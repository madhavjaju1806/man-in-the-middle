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introduce the team. One line framing: the goal is to demonstrate that a man-in-the-middle modification of a file is cryptographically detectable, and to build a working dashboard that proves it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quickly. Emphasise that the deck moves from theory to cryptography to implementation to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core insight: a signature protects the DATA, TLS protects the CHANNEL. When data travels outside a protected channel, only a data-bound mechanism can detect modification.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map one-to-one onto the six implemented functions. Point out that objective 04 is the attack simulation and 05 is the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MITM, show the diagram, then distinguish passive, active and rogue-gateway variants. Point out that our project exercises the ACTIVE tampering 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primitive in plain language. The key point to land: PSS is used over PKCS#1 v1.5 because it is provably secure against forgery, and the salt length is MAX_LENGTH.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top to bottom. Emphasise the separation of concerns: routing in app.py, cryptography in crypto_utils.py, presentation in templates/ and static/.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explain each directory. Note the .vscode folder which wires up a Chrome debug launch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Flask is only a delivery shell — all security value comes from the cryptography library, which is a vetted, audited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five steps in order, then branch on the verify result. Make clear that steps 4 and 5 are what demonstrate the security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RSA briefly, then note the two serialisation formats and why the private key is stored unencrypted (labelled as a demonstration limitation).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the digest is computed over the ORIGINAL bytes and the signature is detached, then the payload is written alongside it. Also note the defensive guards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MITM moment. The attacker mutates the payload without holding the private key, so no valid signature can be produced for the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teaching point: the receiver never re-signs anything. It only recomputes the digest and asks the public key to verify the detached signature. Exception = tamper.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actual numbers. The two digests differ in every position, which is exactly why the signature check fails deterministically.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endpoints, all GET, all returning the same JSON envelope shape. Note the deliberate status vocabulary that drives the UI colour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five-button control row, the colour-coded status box and the detailed output grid. Mention the escapeHtml() helper as a deliberate XSS defence.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actual screenshots recorded during the live run. Each one corresponds to one stage of the pipeline,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tests covering both the happy path and the guarded error paths. Every case passed on the live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transparent about the limitations. This is a demonstration of a detection mechanism, not a production security product, and saying so builds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these by value: encryption and network realism first, then operational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single sentence that captures the whole project, then recap the four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and invite questions. Offer to demo the live dashboard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818120" y="502920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47888" y="502920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677656" y="502920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107424" y="502920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537192" y="502920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9966960" y="502920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396728" y="502920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826496" y="502920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256264" y="502920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818120" y="93268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247888" y="93268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677656" y="93268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107424" y="93268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537192" y="93268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966960" y="93268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396728" y="93268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0826496" y="93268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256264" y="93268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818120" y="136245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247888" y="136245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677656" y="136245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107424" y="136245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537192" y="136245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966960" y="136245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0396728" y="136245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0826496" y="136245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1256264" y="136245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818120" y="1792224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247888" y="1792224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677656" y="1792224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107424" y="1792224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537192" y="1792224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966960" y="1792224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0396728" y="1792224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0826496" y="1792224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1256264" y="1792224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818120" y="222199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247888" y="222199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677656" y="222199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9107424" y="222199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537192" y="222199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9966960" y="222199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0396728" y="222199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826496" y="222199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1256264" y="222199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818120" y="265175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247888" y="265175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677656" y="265175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9107424" y="265175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9537192" y="265175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9966960" y="265175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0396728" y="265175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0826496" y="265175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1256264" y="265175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7818120" y="308152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8247888" y="308152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8677656" y="308152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9107424" y="308152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9537192" y="308152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9966960" y="308152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0396728" y="308152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0826496" y="308152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1256264" y="3081528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7818120" y="351129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8247888" y="351129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8677656" y="351129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9107424" y="351129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9537192" y="351129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9966960" y="351129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10396728" y="351129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10826496" y="351129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11256264" y="3511296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818120" y="3941063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8247888" y="3941063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8677656" y="3941063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9107424" y="3941063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9537192" y="3941063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9966960" y="3941063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10396728" y="3941063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0826496" y="3941063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1256264" y="3941063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7818120" y="437083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8247888" y="437083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8677656" y="437083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9107424" y="437083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9537192" y="437083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9966960" y="437083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10396728" y="437083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10826496" y="437083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11256264" y="4370831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818120" y="480059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8247888" y="480059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8677656" y="480059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9107424" y="480059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9537192" y="480059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966960" y="480059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10396728" y="480059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10826496" y="480059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11256264" y="4800599"/>
            <a:ext cx="50292" cy="50292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868680" y="1170432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38BDF8"/>
                </a:solidFill>
                <a:latin typeface="Segoe UI"/>
              </a:rPr>
              <a:t>CYBERSECURITY PROJECT  ·  SECURE FILE SHARING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8680" y="1572768"/>
            <a:ext cx="7223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8FAFC"/>
                </a:solidFill>
                <a:latin typeface="Segoe UI"/>
              </a:rPr>
              <a:t>Detecting Man-in-the-Middle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38BDF8"/>
                </a:solidFill>
                <a:latin typeface="Segoe UI"/>
              </a:rPr>
              <a:t>Attacks with RSA Digital Signatures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68680" y="3310128"/>
            <a:ext cx="128016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868680" y="3584448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BD5E1"/>
                </a:solidFill>
                <a:latin typeface="Segoe UI"/>
              </a:rPr>
              <a:t>A Flask dashboard that signs a file, lets an attacker tamper with it in transit, and then proves — cryptographically — that the tampering was detected.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68680" y="4590288"/>
            <a:ext cx="1063630" cy="274320"/>
          </a:xfrm>
          <a:prstGeom prst="roundRect">
            <a:avLst>
              <a:gd name="adj" fmla="val 50000"/>
            </a:avLst>
          </a:prstGeom>
          <a:solidFill>
            <a:srgbClr val="1B283F"/>
          </a:solidFill>
          <a:ln w="1143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BDF8"/>
                </a:solidFill>
                <a:latin typeface="Segoe UI"/>
              </a:rPr>
              <a:t>Python 3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060326" y="4590288"/>
            <a:ext cx="781354" cy="274320"/>
          </a:xfrm>
          <a:prstGeom prst="roundRect">
            <a:avLst>
              <a:gd name="adj" fmla="val 50000"/>
            </a:avLst>
          </a:prstGeom>
          <a:solidFill>
            <a:srgbClr val="1B283F"/>
          </a:solidFill>
          <a:ln w="1143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BDF8"/>
                </a:solidFill>
                <a:latin typeface="Segoe UI"/>
              </a:rPr>
              <a:t>Flask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969696" y="4590288"/>
            <a:ext cx="1439997" cy="274320"/>
          </a:xfrm>
          <a:prstGeom prst="roundRect">
            <a:avLst>
              <a:gd name="adj" fmla="val 50000"/>
            </a:avLst>
          </a:prstGeom>
          <a:solidFill>
            <a:srgbClr val="1B283F"/>
          </a:solidFill>
          <a:ln w="1143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BDF8"/>
                </a:solidFill>
                <a:latin typeface="Segoe UI"/>
              </a:rPr>
              <a:t>cryptography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537709" y="4590288"/>
            <a:ext cx="1722272" cy="274320"/>
          </a:xfrm>
          <a:prstGeom prst="roundRect">
            <a:avLst>
              <a:gd name="adj" fmla="val 50000"/>
            </a:avLst>
          </a:prstGeom>
          <a:solidFill>
            <a:srgbClr val="1B283F"/>
          </a:solidFill>
          <a:ln w="1143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BDF8"/>
                </a:solidFill>
                <a:latin typeface="Segoe UI"/>
              </a:rPr>
              <a:t>HTML / CSS / JS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387998" y="4590288"/>
            <a:ext cx="1345905" cy="274320"/>
          </a:xfrm>
          <a:prstGeom prst="roundRect">
            <a:avLst>
              <a:gd name="adj" fmla="val 50000"/>
            </a:avLst>
          </a:prstGeom>
          <a:solidFill>
            <a:srgbClr val="1B283F"/>
          </a:solidFill>
          <a:ln w="1143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BDF8"/>
                </a:solidFill>
                <a:latin typeface="Segoe UI"/>
              </a:rPr>
              <a:t>REST + JSON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8680" y="5230368"/>
            <a:ext cx="6675120" cy="10972"/>
          </a:xfrm>
          <a:prstGeom prst="rect">
            <a:avLst/>
          </a:prstGeom>
          <a:solidFill>
            <a:srgbClr val="24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868680" y="54406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64748B"/>
                </a:solidFill>
                <a:latin typeface="Segoe UI"/>
              </a:rPr>
              <a:t>PRESENTED BY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Vanshika  ·  Madhav  ·  Vedant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60720" y="54406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64748B"/>
                </a:solidFill>
                <a:latin typeface="Segoe UI"/>
              </a:rPr>
              <a:t>DATE</a:t>
            </a:r>
          </a:p>
          <a:p>
            <a:pPr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22 October 2026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549640" y="1234440"/>
            <a:ext cx="2971800" cy="566928"/>
          </a:xfrm>
          <a:prstGeom prst="roundRect">
            <a:avLst>
              <a:gd name="adj" fmla="val 14000"/>
            </a:avLst>
          </a:prstGeom>
          <a:solidFill>
            <a:srgbClr val="152033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80">
                <a:solidFill>
                  <a:srgbClr val="38BDF8"/>
                </a:solidFill>
                <a:latin typeface="Segoe UI"/>
              </a:rPr>
              <a:t>RSA-2048 KEY PAIR</a:t>
            </a:r>
          </a:p>
        </p:txBody>
      </p:sp>
      <p:sp>
        <p:nvSpPr>
          <p:cNvPr id="117" name="Down Arrow 116"/>
          <p:cNvSpPr/>
          <p:nvPr/>
        </p:nvSpPr>
        <p:spPr>
          <a:xfrm>
            <a:off x="9921240" y="1856232"/>
            <a:ext cx="228600" cy="274320"/>
          </a:xfrm>
          <a:prstGeom prst="downArrow">
            <a:avLst/>
          </a:prstGeom>
          <a:solidFill>
            <a:srgbClr val="384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549640" y="2130552"/>
            <a:ext cx="2971800" cy="566928"/>
          </a:xfrm>
          <a:prstGeom prst="roundRect">
            <a:avLst>
              <a:gd name="adj" fmla="val 14000"/>
            </a:avLst>
          </a:prstGeom>
          <a:solidFill>
            <a:srgbClr val="152033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80">
                <a:solidFill>
                  <a:srgbClr val="2563EB"/>
                </a:solidFill>
                <a:latin typeface="Segoe UI"/>
              </a:rPr>
              <a:t>SHA-256 DIGEST</a:t>
            </a:r>
          </a:p>
        </p:txBody>
      </p:sp>
      <p:sp>
        <p:nvSpPr>
          <p:cNvPr id="119" name="Down Arrow 118"/>
          <p:cNvSpPr/>
          <p:nvPr/>
        </p:nvSpPr>
        <p:spPr>
          <a:xfrm>
            <a:off x="9921240" y="2752344"/>
            <a:ext cx="228600" cy="274320"/>
          </a:xfrm>
          <a:prstGeom prst="downArrow">
            <a:avLst/>
          </a:prstGeom>
          <a:solidFill>
            <a:srgbClr val="384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8549640" y="3026664"/>
            <a:ext cx="2971800" cy="566928"/>
          </a:xfrm>
          <a:prstGeom prst="roundRect">
            <a:avLst>
              <a:gd name="adj" fmla="val 14000"/>
            </a:avLst>
          </a:prstGeom>
          <a:solidFill>
            <a:srgbClr val="15203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80">
                <a:solidFill>
                  <a:srgbClr val="A78BFA"/>
                </a:solidFill>
                <a:latin typeface="Segoe UI"/>
              </a:rPr>
              <a:t>RSA-PSS SIGNATURE</a:t>
            </a:r>
          </a:p>
        </p:txBody>
      </p:sp>
      <p:sp>
        <p:nvSpPr>
          <p:cNvPr id="121" name="Down Arrow 120"/>
          <p:cNvSpPr/>
          <p:nvPr/>
        </p:nvSpPr>
        <p:spPr>
          <a:xfrm>
            <a:off x="9921240" y="3648456"/>
            <a:ext cx="228600" cy="274320"/>
          </a:xfrm>
          <a:prstGeom prst="downArrow">
            <a:avLst/>
          </a:prstGeom>
          <a:solidFill>
            <a:srgbClr val="384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8549640" y="3922776"/>
            <a:ext cx="2971800" cy="566928"/>
          </a:xfrm>
          <a:prstGeom prst="roundRect">
            <a:avLst>
              <a:gd name="adj" fmla="val 14000"/>
            </a:avLst>
          </a:prstGeom>
          <a:solidFill>
            <a:srgbClr val="152033"/>
          </a:solidFill>
          <a:ln w="1524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80">
                <a:solidFill>
                  <a:srgbClr val="EF4444"/>
                </a:solidFill>
                <a:latin typeface="Segoe UI"/>
              </a:rPr>
              <a:t>MITM BYTE TAMPER</a:t>
            </a:r>
          </a:p>
        </p:txBody>
      </p:sp>
      <p:sp>
        <p:nvSpPr>
          <p:cNvPr id="123" name="Down Arrow 122"/>
          <p:cNvSpPr/>
          <p:nvPr/>
        </p:nvSpPr>
        <p:spPr>
          <a:xfrm>
            <a:off x="9921240" y="4544568"/>
            <a:ext cx="228600" cy="274320"/>
          </a:xfrm>
          <a:prstGeom prst="downArrow">
            <a:avLst/>
          </a:prstGeom>
          <a:solidFill>
            <a:srgbClr val="384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8549640" y="4818888"/>
            <a:ext cx="2971800" cy="566928"/>
          </a:xfrm>
          <a:prstGeom prst="roundRect">
            <a:avLst>
              <a:gd name="adj" fmla="val 14000"/>
            </a:avLst>
          </a:prstGeom>
          <a:solidFill>
            <a:srgbClr val="152033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80">
                <a:solidFill>
                  <a:srgbClr val="22C55E"/>
                </a:solidFill>
                <a:latin typeface="Segoe UI"/>
              </a:rPr>
              <a:t>VERIFY → DETECTED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What this presentation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42236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72768"/>
            <a:ext cx="4523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Problem Statement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Why in-transit modification is dangerous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50591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42236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505456"/>
            <a:ext cx="4523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Objectives &amp; Scope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Six concrete deliverables for the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8328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42236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438144"/>
            <a:ext cx="4523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Understanding MITM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Anatomy of the attack and its variants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1596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42236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onsola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370831"/>
            <a:ext cx="4523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Cryptographic Primitives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RSA-2048, SHA-256 and RSA-PSS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48656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42236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5303520"/>
            <a:ext cx="4523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System Architecture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Layered design of the Flask application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151790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42236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onsola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8535" y="1572768"/>
            <a:ext cx="4523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Structure &amp; Tech Stack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File layout and the libraries 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2450591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42236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onsolas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8535" y="2505456"/>
            <a:ext cx="4523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Core Modules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Code walkthrough of all four modules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338328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42236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onsolas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8535" y="3438144"/>
            <a:ext cx="4523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API &amp; Dashboard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Five REST routes and the frontend 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431596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42236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onsolas"/>
              </a:rPr>
              <a:t>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8535" y="4370831"/>
            <a:ext cx="4523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Testing &amp; Screenshots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Validated results from a live run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5248656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42236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onsolas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8535" y="5303520"/>
            <a:ext cx="4523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Analysis &amp; Roadmap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Strengths, limitations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The trust problem behind every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17904"/>
            <a:ext cx="6446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30">
                <a:solidFill>
                  <a:srgbClr val="FACC15"/>
                </a:solidFill>
                <a:latin typeface="Segoe UI"/>
              </a:rPr>
              <a:t>APPLICATION PAYLOADS ARE THE WEAKEST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01952"/>
            <a:ext cx="64465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300" b="1">
                <a:solidFill>
                  <a:srgbClr val="F8FAFC"/>
                </a:solidFill>
                <a:latin typeface="Segoe UI"/>
              </a:rPr>
              <a:t>Implicit trust assumption — </a:t>
            </a:r>
            <a:r>
              <a:rPr sz="1300">
                <a:solidFill>
                  <a:srgbClr val="CBD5E1"/>
                </a:solidFill>
                <a:latin typeface="Segoe UI"/>
              </a:rPr>
              <a:t>every remote exchange begins with the belief that the bytes received are the bytes sent. On a shared, proxied or unencrypted channel that belief is unverified.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300" b="1">
                <a:solidFill>
                  <a:srgbClr val="F8FAFC"/>
                </a:solidFill>
                <a:latin typeface="Segoe UI"/>
              </a:rPr>
              <a:t>Classic MITM position — </a:t>
            </a:r>
            <a:r>
              <a:rPr sz="1300">
                <a:solidFill>
                  <a:srgbClr val="CBD5E1"/>
                </a:solidFill>
                <a:latin typeface="Segoe UI"/>
              </a:rPr>
              <a:t>an adversary between client and server can read, alter or replace the payload while transparently relaying traffic to both endpoints.</a:t>
            </a:r>
          </a:p>
          <a:p>
            <a:pPr algn="l">
              <a:lnSpc>
                <a:spcPct val="122000"/>
              </a:lnSpc>
              <a:spcBef>
                <a:spcPts val="1300"/>
              </a:spcBef>
              <a:spcAft>
                <a:spcPts val="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300" b="1">
                <a:solidFill>
                  <a:srgbClr val="F8FAFC"/>
                </a:solidFill>
                <a:latin typeface="Segoe UI"/>
              </a:rPr>
              <a:t>Transport security is not enough — </a:t>
            </a:r>
            <a:r>
              <a:rPr sz="1300">
                <a:solidFill>
                  <a:srgbClr val="CBD5E1"/>
                </a:solidFill>
                <a:latin typeface="Segoe UI"/>
              </a:rPr>
              <a:t>TLS and VPN stacks protect the tunnel, but exported files, reports and configuration bundles routinely travel outside that protected channel.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129784"/>
            <a:ext cx="6446520" cy="932688"/>
          </a:xfrm>
          <a:prstGeom prst="roundRect">
            <a:avLst>
              <a:gd name="adj" fmla="val 3500"/>
            </a:avLst>
          </a:prstGeom>
          <a:solidFill>
            <a:srgbClr val="142B22"/>
          </a:solidFill>
          <a:ln w="1143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5285232"/>
            <a:ext cx="5943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22C55E"/>
                </a:solidFill>
                <a:latin typeface="Segoe UI"/>
              </a:rPr>
              <a:t>OUR APPROACH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0" i="0">
                <a:solidFill>
                  <a:srgbClr val="F8FAFC"/>
                </a:solidFill>
                <a:latin typeface="Segoe UI"/>
              </a:rPr>
              <a:t>Bind integrity and origin to the payload itself with a detached RSA-PSS signature over a SHA-256 digest.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7768" y="1517904"/>
            <a:ext cx="4336999" cy="4544568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62088" y="1755648"/>
            <a:ext cx="3788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30">
                <a:solidFill>
                  <a:srgbClr val="38BDF8"/>
                </a:solidFill>
                <a:latin typeface="Segoe UI"/>
              </a:rPr>
              <a:t>THE THREAT SURFACE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62088" y="2231136"/>
            <a:ext cx="41148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63256" y="2176272"/>
            <a:ext cx="3514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70">
                <a:solidFill>
                  <a:srgbClr val="FACC15"/>
                </a:solidFill>
                <a:latin typeface="Segoe UI"/>
              </a:rPr>
              <a:t>INTERCEPTION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Eavesdrops on plaintext payloads in transit.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2088" y="3072384"/>
            <a:ext cx="41148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63256" y="3017520"/>
            <a:ext cx="3514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70">
                <a:solidFill>
                  <a:srgbClr val="EF4444"/>
                </a:solidFill>
                <a:latin typeface="Segoe UI"/>
              </a:rPr>
              <a:t>TAMPERING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CBD5E1"/>
                </a:solidFill>
                <a:latin typeface="Segoe UI"/>
              </a:rPr>
              <a:t>Alters bytes — the payload looks valid but is wrong.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2088" y="3913631"/>
            <a:ext cx="41148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63256" y="3858768"/>
            <a:ext cx="3514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70">
                <a:solidFill>
                  <a:srgbClr val="A78BFA"/>
                </a:solidFill>
                <a:latin typeface="Segoe UI"/>
              </a:rPr>
              <a:t>IMPERSONATION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Substitutes a forged file or a forged sender identity.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62088" y="4809744"/>
            <a:ext cx="3788359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62088" y="5010912"/>
            <a:ext cx="37883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64748B"/>
                </a:solidFill>
                <a:latin typeface="Segoe UI"/>
              </a:rPr>
              <a:t>IMPACT IF UNDETECTED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CBD5E1"/>
                </a:solidFill>
                <a:latin typeface="Segoe UI"/>
              </a:rPr>
              <a:t>A tampered executable, a rewritten audit log or an altered configuration file is accepted as authentic. The receiver has no cryptographic basis to object.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Six concrete objectives for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490874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1792224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31136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Key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33472"/>
            <a:ext cx="297881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Produce an RSA-2048 key pair (e = 65537) serialised as PKCS#8 / SPKI PEM.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0410" y="1517904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50410" y="1517904"/>
            <a:ext cx="3490874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06442" y="1792224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63EB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6442" y="2231136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Content Fingerprinting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6442" y="2633472"/>
            <a:ext cx="297881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Compute a SHA-256 digest of the target file to act as a fixed-length integrity fingerprint.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3892" y="1517904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33892" y="1517904"/>
            <a:ext cx="3490874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89924" y="1792224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78BFA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9924" y="2231136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Authenticity Binding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9924" y="2633472"/>
            <a:ext cx="297881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Create a detached RSA-PSS signature over the digest using MGF1-SHA256 with a maximum-length salt.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41648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4041648"/>
            <a:ext cx="3490874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315968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F4444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Adversary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57216"/>
            <a:ext cx="297881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Emulate a man-in-the-middle by mutating bytes of the in-transit payload at a controlled offset.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0410" y="4041648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350410" y="4041648"/>
            <a:ext cx="3490874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06442" y="4315968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2C55E"/>
                </a:solidFill>
                <a:latin typeface="Consola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6442" y="4754880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Tamper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6442" y="5157216"/>
            <a:ext cx="297881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Verify the signature on the receiver side and unambiguously reject any modified payload.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3892" y="4041648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133892" y="4041648"/>
            <a:ext cx="3490874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89924" y="4315968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DD4BF"/>
                </a:solidFill>
                <a:latin typeface="Consola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9924" y="4754880"/>
            <a:ext cx="29788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Interactive Demonstration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9924" y="5157216"/>
            <a:ext cx="297881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Expose the complete lifecycle through a live Flask dashboard with status reporting and detail panes.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Anatomy of a man-in-the-middle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11057839" cy="713232"/>
          </a:xfrm>
          <a:prstGeom prst="roundRect">
            <a:avLst>
              <a:gd name="adj" fmla="val 3500"/>
            </a:avLst>
          </a:prstGeom>
          <a:solidFill>
            <a:srgbClr val="1A182C"/>
          </a:solidFill>
          <a:ln w="1143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1664207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Segoe UI"/>
              </a:rPr>
              <a:t>DEFINITION   </a:t>
            </a:r>
            <a:r>
              <a:rPr sz="1300" b="0" i="0">
                <a:solidFill>
                  <a:srgbClr val="CBD5E1"/>
                </a:solidFill>
                <a:latin typeface="Segoe UI"/>
              </a:rPr>
              <a:t>A man-in-the-middle attack is one in which an adversary relays communication between two parties who believe they are talking directly to each other, while secretly reading or altering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05456"/>
            <a:ext cx="2606040" cy="1810512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2670048"/>
            <a:ext cx="2203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38BDF8"/>
                </a:solidFill>
                <a:latin typeface="Segoe UI"/>
              </a:rP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26080"/>
            <a:ext cx="22037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egoe UI"/>
              </a:rPr>
              <a:t>Alice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364992"/>
            <a:ext cx="2203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Originates the request
and holds the private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92827" y="2505456"/>
            <a:ext cx="2606040" cy="1810512"/>
          </a:xfrm>
          <a:prstGeom prst="roundRect">
            <a:avLst>
              <a:gd name="adj" fmla="val 3500"/>
            </a:avLst>
          </a:prstGeom>
          <a:solidFill>
            <a:srgbClr val="24141E"/>
          </a:solidFill>
          <a:ln w="1143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93995" y="2670048"/>
            <a:ext cx="2203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EF4444"/>
                </a:solidFill>
                <a:latin typeface="Segoe UI"/>
              </a:rPr>
              <a:t>ADVERSARY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3995" y="2926080"/>
            <a:ext cx="22037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egoe UI"/>
              </a:rPr>
              <a:t>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3995" y="3364992"/>
            <a:ext cx="2203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Intercepts, inspects and
rewrites the payload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3995" y="3877056"/>
            <a:ext cx="2203704" cy="292608"/>
          </a:xfrm>
          <a:prstGeom prst="roundRect">
            <a:avLst>
              <a:gd name="adj" fmla="val 25000"/>
            </a:avLst>
          </a:prstGeom>
          <a:solidFill>
            <a:srgbClr val="3F141B"/>
          </a:solidFill>
          <a:ln w="1397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93995" y="3950208"/>
            <a:ext cx="2203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F4444"/>
                </a:solidFill>
                <a:latin typeface="Segoe UI"/>
              </a:rPr>
              <a:t>✘  PAYLOAD MODIFIED IN TRANSIT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8727" y="2505456"/>
            <a:ext cx="2606040" cy="1810512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19895" y="2670048"/>
            <a:ext cx="2203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30">
                <a:solidFill>
                  <a:srgbClr val="22C55E"/>
                </a:solidFill>
                <a:latin typeface="Segoe UI"/>
              </a:rPr>
              <a:t>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9895" y="2926080"/>
            <a:ext cx="22037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egoe UI"/>
              </a:rPr>
              <a:t>Bob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9895" y="3364992"/>
            <a:ext cx="22037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Receives the payload and
validates the signature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64408" y="3163824"/>
            <a:ext cx="411479" cy="27432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44368" y="28346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request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490307" y="3163824"/>
            <a:ext cx="411479" cy="27432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0267" y="28346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590288"/>
            <a:ext cx="3490874" cy="1170432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4736592"/>
            <a:ext cx="30519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FACC15"/>
                </a:solidFill>
                <a:latin typeface="Segoe UI"/>
              </a:rPr>
              <a:t>PASSIVE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001768"/>
            <a:ext cx="305196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Segoe UI"/>
              </a:rPr>
              <a:t>Eavesdropping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egoe UI"/>
              </a:rPr>
              <a:t>Reads traffic without altering it — invisible to both endpoints.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0410" y="4590288"/>
            <a:ext cx="3490874" cy="1170432"/>
          </a:xfrm>
          <a:prstGeom prst="roundRect">
            <a:avLst>
              <a:gd name="adj" fmla="val 3500"/>
            </a:avLst>
          </a:prstGeom>
          <a:solidFill>
            <a:srgbClr val="24141E"/>
          </a:solidFill>
          <a:ln w="1651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569866" y="4736592"/>
            <a:ext cx="30519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F4444"/>
                </a:solidFill>
                <a:latin typeface="Segoe UI"/>
              </a:rPr>
              <a:t>ACTIVE  ◀ ACTIVE IN THIS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9866" y="5001768"/>
            <a:ext cx="305196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Segoe UI"/>
              </a:rPr>
              <a:t>Tampering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egoe UI"/>
              </a:rPr>
              <a:t>Modifies the payload so the receiver accepts altered data.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3892" y="4590288"/>
            <a:ext cx="3490874" cy="1170432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53348" y="4736592"/>
            <a:ext cx="30519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A78BFA"/>
                </a:solidFill>
                <a:latin typeface="Segoe UI"/>
              </a:rPr>
              <a:t>ROGUE GATEWAY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3348" y="5001768"/>
            <a:ext cx="305196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Segoe UI"/>
              </a:rPr>
              <a:t>Insider / Wi-Fi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egoe UI"/>
              </a:rPr>
              <a:t>A trusted-looking intermediary that controls the whole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The primitives that make detection possible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17904"/>
          <a:ext cx="11057836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7741"/>
                <a:gridCol w="1736354"/>
                <a:gridCol w="2376064"/>
                <a:gridCol w="5117677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Primitives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Algorithm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Parameters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Role in this project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Asymmetric key pair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RSA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2048-bit modulus, e = 65537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Establishes the signing identity: only the private key can produce a valid signature.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Cryptographic hash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SHA-256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256-bit (32-byte) digest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Fixed-length fingerprint of the file; any single-bit change produces a different digest.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Signature scheme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RSA-PSS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MGF1-SHA256, salt length = MAX_LENGTH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Proves both origin (private key) and integrity (digest match) without revealing the key.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Serialisation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PEM / PKCS#8 / SPKI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Base64-armoured text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Portable key files that can be exchanged or stored outside the application.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215384"/>
            <a:ext cx="5363052" cy="1700784"/>
          </a:xfrm>
          <a:prstGeom prst="roundRect">
            <a:avLst>
              <a:gd name="adj" fmla="val 3500"/>
            </a:avLst>
          </a:prstGeom>
          <a:solidFill>
            <a:srgbClr val="161E36"/>
          </a:solidFill>
          <a:ln w="1143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4416552"/>
            <a:ext cx="48144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38BDF8"/>
                </a:solidFill>
                <a:latin typeface="Segoe UI"/>
              </a:rPr>
              <a:t>WHY PSS AND NOT PKCS#1 v1.5?</a:t>
            </a:r>
          </a:p>
          <a:p>
            <a:pPr algn="l">
              <a:lnSpc>
                <a:spcPct val="13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RSA-PSS (Probabilistic Signature Scheme) is randomised — each signature uses a fresh random salt — which is what makes it provably secure against forgery. PKCS#1 v1.5 is deterministic and has a long history of padding-oracle attacks.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1715" y="4215384"/>
            <a:ext cx="5363052" cy="1700784"/>
          </a:xfrm>
          <a:prstGeom prst="roundRect">
            <a:avLst>
              <a:gd name="adj" fmla="val 3500"/>
            </a:avLst>
          </a:prstGeom>
          <a:solidFill>
            <a:srgbClr val="1A182C"/>
          </a:solidFill>
          <a:ln w="1143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36035" y="4416552"/>
            <a:ext cx="48144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A78BFA"/>
                </a:solidFill>
                <a:latin typeface="Segoe UI"/>
              </a:rPr>
              <a:t>WHY HASH BEFORE SIGNING?</a:t>
            </a:r>
          </a:p>
          <a:p>
            <a:pPr algn="l">
              <a:lnSpc>
                <a:spcPct val="13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RSA-2048 can only encrypt up to 190 bytes under OAEP/PSS padding, so an arbitrary file cannot be signed directly. Hashing first reduces any input to exactly 32 bytes — one fixed-size signature covers a file of any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Layered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11057839" cy="1005840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50292" cy="10058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16367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10">
                <a:solidFill>
                  <a:srgbClr val="38BDF8"/>
                </a:solidFill>
                <a:latin typeface="Segoe UI"/>
              </a:rPr>
              <a:t>L1  PRESENTATION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01952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38BDF8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templates/index.html — dashboard markup, button row, status and detail panes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060">
                <a:solidFill>
                  <a:srgbClr val="38BDF8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static/style.css — dark theme tokens, status colour classes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060">
                <a:solidFill>
                  <a:srgbClr val="38BDF8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static/script.js — fetch() client, status mapping, HTML escaping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5927" y="1664207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1B283F"/>
          </a:solidFill>
          <a:ln w="1143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Browser  ·  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15184"/>
            <a:ext cx="11057839" cy="1005840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2615184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273405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10">
                <a:solidFill>
                  <a:srgbClr val="2563EB"/>
                </a:solidFill>
                <a:latin typeface="Segoe UI"/>
              </a:rPr>
              <a:t>L2  APPLICATION / API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99232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2563EB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app.py — Flask application, five REST routes, JSON envelope handling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060">
                <a:solidFill>
                  <a:srgbClr val="2563EB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Each route delegates to crypto_utils and returns a typed JSON status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060">
                <a:solidFill>
                  <a:srgbClr val="2563EB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Runs on 127.0.0.1:5000 (debug mode)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75927" y="2761488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1B283F"/>
          </a:solidFill>
          <a:ln w="1143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63EB"/>
                </a:solidFill>
                <a:latin typeface="Segoe UI"/>
              </a:rPr>
              <a:t>Flask WSGI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12464"/>
            <a:ext cx="11057839" cy="1005840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3712464"/>
            <a:ext cx="50292" cy="10058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83133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10">
                <a:solidFill>
                  <a:srgbClr val="A78BFA"/>
                </a:solidFill>
                <a:latin typeface="Segoe UI"/>
              </a:rPr>
              <a:t>L3  CRYPTOGRAPHY SERVICE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96512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A78BFA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crypto_utils.py — generate_keys(), encrypt_file(), attack_file(), verify_file()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060">
                <a:solidFill>
                  <a:srgbClr val="A78BFA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Uses the `cryptography` library: rsa, padding, hashes, serialization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060">
                <a:solidFill>
                  <a:srgbClr val="A78BFA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Zero business logic lives in the route handlers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5927" y="3858768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1B283F"/>
          </a:solidFill>
          <a:ln w="1143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78BFA"/>
                </a:solidFill>
                <a:latin typeface="Segoe UI"/>
              </a:rPr>
              <a:t>Python 3 + cryptography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09744"/>
            <a:ext cx="11057839" cy="1005840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4809744"/>
            <a:ext cx="50292" cy="10058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92861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10">
                <a:solidFill>
                  <a:srgbClr val="2DD4BF"/>
                </a:solidFill>
                <a:latin typeface="Segoe UI"/>
              </a:rPr>
              <a:t>L4  STORAGE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93792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2DD4BF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input_files/sample.txt — the plaintext payload under test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060">
                <a:solidFill>
                  <a:srgbClr val="2DD4BF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keys/*.pem — generated RSA key pair (PKCS#8 private, SPKI public)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1060">
                <a:solidFill>
                  <a:srgbClr val="2DD4BF"/>
                </a:solidFill>
                <a:latin typeface="Segoe UI"/>
              </a:rPr>
              <a:t>–  </a:t>
            </a:r>
            <a:r>
              <a:rPr sz="1060">
                <a:solidFill>
                  <a:srgbClr val="CBD5E1"/>
                </a:solidFill>
                <a:latin typeface="Segoe UI"/>
              </a:rPr>
              <a:t>output/*.bin — encrypted_file.bin, signature.bin, hash.bin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5927" y="4956048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1B283F"/>
          </a:solidFill>
          <a:ln w="1143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D4BF"/>
                </a:solidFill>
                <a:latin typeface="Segoe UI"/>
              </a:rPr>
              <a:t>Local filesystem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925312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4748B"/>
                </a:solidFill>
                <a:latin typeface="Segoe UI"/>
              </a:rPr>
              <a:t>REQUEST FLOW   →   Browser triggers fetch()   →   Flask route resolves   →   crypto_utils executes   →   JSON envelope returns   →   UI repaints status +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Repository layout and purpose of every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5349240" cy="4773168"/>
          </a:xfrm>
          <a:prstGeom prst="roundRect">
            <a:avLst>
              <a:gd name="adj" fmla="val 3500"/>
            </a:avLst>
          </a:prstGeom>
          <a:solidFill>
            <a:srgbClr val="0D1628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700784"/>
            <a:ext cx="4846320" cy="4443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7DD3FC"/>
                </a:solidFill>
                <a:latin typeface="Consolas"/>
              </a:rPr>
              <a:t>Man-In-The-Middle-main/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F9A8D4"/>
                </a:solidFill>
                <a:latin typeface="Consolas"/>
              </a:rPr>
              <a:t>├── app.py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F9A8D4"/>
                </a:solidFill>
                <a:latin typeface="Consolas"/>
              </a:rPr>
              <a:t>├── crypto_utils.py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1">
                <a:solidFill>
                  <a:srgbClr val="7DD3FC"/>
                </a:solidFill>
                <a:latin typeface="Consolas"/>
              </a:rPr>
              <a:t>├── input_files/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86EFAC"/>
                </a:solidFill>
                <a:latin typeface="Consolas"/>
              </a:rPr>
              <a:t>│   └── sample.txt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1">
                <a:solidFill>
                  <a:srgbClr val="7DD3FC"/>
                </a:solidFill>
                <a:latin typeface="Consolas"/>
              </a:rPr>
              <a:t>├── keys/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FACC15"/>
                </a:solidFill>
                <a:latin typeface="Consolas"/>
              </a:rPr>
              <a:t>│   ├── private_key.pem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FACC15"/>
                </a:solidFill>
                <a:latin typeface="Consolas"/>
              </a:rPr>
              <a:t>│   └── public_key.pem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1">
                <a:solidFill>
                  <a:srgbClr val="7DD3FC"/>
                </a:solidFill>
                <a:latin typeface="Consolas"/>
              </a:rPr>
              <a:t>├── output/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C492F0"/>
                </a:solidFill>
                <a:latin typeface="Consolas"/>
              </a:rPr>
              <a:t>│   ├── encrypted_file.bin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C492F0"/>
                </a:solidFill>
                <a:latin typeface="Consolas"/>
              </a:rPr>
              <a:t>│   ├── encrypted_key.bin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C492F0"/>
                </a:solidFill>
                <a:latin typeface="Consolas"/>
              </a:rPr>
              <a:t>│   ├── hash.bin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C492F0"/>
                </a:solidFill>
                <a:latin typeface="Consolas"/>
              </a:rPr>
              <a:t>│   └── signature.bin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1">
                <a:solidFill>
                  <a:srgbClr val="7DD3FC"/>
                </a:solidFill>
                <a:latin typeface="Consolas"/>
              </a:rPr>
              <a:t>├── static/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FACC15"/>
                </a:solidFill>
                <a:latin typeface="Consolas"/>
              </a:rPr>
              <a:t>│   ├── script.js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67E8F9"/>
                </a:solidFill>
                <a:latin typeface="Consolas"/>
              </a:rPr>
              <a:t>│   └── style.css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1">
                <a:solidFill>
                  <a:srgbClr val="7DD3FC"/>
                </a:solidFill>
                <a:latin typeface="Consolas"/>
              </a:rPr>
              <a:t>├── templates/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FB923C"/>
                </a:solidFill>
                <a:latin typeface="Consolas"/>
              </a:rPr>
              <a:t>│   └── index.html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1">
                <a:solidFill>
                  <a:srgbClr val="7DD3FC"/>
                </a:solidFill>
                <a:latin typeface="Consolas"/>
              </a:rPr>
              <a:t>├── screenshots/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1080" b="0">
                <a:solidFill>
                  <a:srgbClr val="A3E635"/>
                </a:solidFill>
                <a:latin typeface="Consolas"/>
              </a:rPr>
              <a:t>└── .vscode/launch.json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1536192"/>
            <a:ext cx="5434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30">
                <a:solidFill>
                  <a:srgbClr val="38BDF8"/>
                </a:solidFill>
                <a:latin typeface="Segoe UI"/>
              </a:rPr>
              <a:t>FILE INVENTORY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947672"/>
            <a:ext cx="41148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91656" y="1901952"/>
            <a:ext cx="5114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Consolas"/>
              </a:rPr>
              <a:t>app.py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Flask entry point — 5 REST routes, JSON responses, server bootstrap.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2587752"/>
            <a:ext cx="41148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91656" y="2542032"/>
            <a:ext cx="5114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Consolas"/>
              </a:rPr>
              <a:t>crypto_utils.py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All cryptographic logic — keygen, hash, sign, tamper, verify.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27832"/>
            <a:ext cx="41148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91656" y="3182112"/>
            <a:ext cx="5114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Consolas"/>
              </a:rPr>
              <a:t>input_files/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Plaintext input consumed by the pipeline (sample.txt).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3867912"/>
            <a:ext cx="41148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91656" y="3822192"/>
            <a:ext cx="5114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Consolas"/>
              </a:rPr>
              <a:t>keys/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RSA-2048 key pair in PEM format, generated at runtime.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4507992"/>
            <a:ext cx="41148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91656" y="4462272"/>
            <a:ext cx="5114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Consolas"/>
              </a:rPr>
              <a:t>output/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Artefacts of the pipeline: payload copy, signature and digest.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5148072"/>
            <a:ext cx="41148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91656" y="5102352"/>
            <a:ext cx="5114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Consolas"/>
              </a:rPr>
              <a:t>static/ + templates/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Frontend — HTML layout, CSS theme, JS fetch client.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0488" y="5788152"/>
            <a:ext cx="41148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91656" y="5742432"/>
            <a:ext cx="5114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Consolas"/>
              </a:rPr>
              <a:t>screenshots/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Captured evidence of every dashboard state during the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Languages, libraries and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17904"/>
          <a:ext cx="11057837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3580"/>
                <a:gridCol w="1553580"/>
                <a:gridCol w="2376064"/>
                <a:gridCol w="5574613"/>
              </a:tblGrid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Role in the project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Runtime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Python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3.x (3.11 / 3.14 bytecode caches present)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Executes the Flask server and every cryptographic operation.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Web framework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Flask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3.1.3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Serves the dashboard and exposes five JSON REST endpoints.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Crypto library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cryptography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50.0.2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RSA-2048 keygen, PSS signing / verification, SHA-256, PEM serialisation.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HTML5 + CSS3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Native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Dark-themed dashboard with status colour classes and info-card grid.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Client logic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JavaScript (ES2021)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Native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fetch() API calls, status-to-style mapping, XSS-safe HTML escaping.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Deployment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Localhost dev server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127.0.0.1:5000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Single-process Flask dev server with debug mode and auto-reload.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Editor config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VS Code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launch.json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Chrome debug launch configuration (targets localhost:8080).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974336"/>
            <a:ext cx="11057839" cy="987552"/>
          </a:xfrm>
          <a:prstGeom prst="roundRect">
            <a:avLst>
              <a:gd name="adj" fmla="val 3500"/>
            </a:avLst>
          </a:prstGeom>
          <a:solidFill>
            <a:srgbClr val="142B22"/>
          </a:solidFill>
          <a:ln w="1143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5157216"/>
            <a:ext cx="10509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22C55E"/>
                </a:solidFill>
                <a:latin typeface="Segoe UI"/>
              </a:rPr>
              <a:t>SECURITY NOTE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All cryptographic primitives are delegated to the `cryptography` package (pyca/cryptography) — an OpenSSL-backed, continuously audited implementation. No cipher, padding scheme or key schedule is hand-rolled in this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End-to-end lifecycle of a protected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1992111" cy="2029968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1992111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1773936"/>
            <a:ext cx="15531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176272"/>
            <a:ext cx="155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Generate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633472"/>
            <a:ext cx="15531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RSA-2048 pair written to keys/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86471" y="2414015"/>
            <a:ext cx="301752" cy="201168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33359" y="1517904"/>
            <a:ext cx="1992111" cy="2029968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833359" y="1517904"/>
            <a:ext cx="1992111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52815" y="1773936"/>
            <a:ext cx="15531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63EB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2815" y="2176272"/>
            <a:ext cx="155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Encrypt + 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2815" y="2633472"/>
            <a:ext cx="15531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Hash, then detach a PSS signature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52903" y="2414015"/>
            <a:ext cx="301752" cy="20116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99791" y="1517904"/>
            <a:ext cx="1992111" cy="2029968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99791" y="1517904"/>
            <a:ext cx="1992111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19247" y="1773936"/>
            <a:ext cx="15531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DD4BF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9247" y="2176272"/>
            <a:ext cx="155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Transmit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9247" y="2633472"/>
            <a:ext cx="15531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Payload + signature reach the receiver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19335" y="2414015"/>
            <a:ext cx="301752" cy="201168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66223" y="1517904"/>
            <a:ext cx="1992111" cy="2029968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366223" y="1517904"/>
            <a:ext cx="1992111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85679" y="1773936"/>
            <a:ext cx="15531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F4444"/>
                </a:solidFill>
                <a:latin typeface="Consola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5679" y="2176272"/>
            <a:ext cx="155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MITM Tamper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5679" y="2633472"/>
            <a:ext cx="15531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Eve flips a byte in the payload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385767" y="2414015"/>
            <a:ext cx="301752" cy="201168"/>
          </a:xfrm>
          <a:prstGeom prst="rightArrow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32655" y="1517904"/>
            <a:ext cx="1992111" cy="2029968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632655" y="1517904"/>
            <a:ext cx="1992111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52111" y="1773936"/>
            <a:ext cx="15531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2C55E"/>
                </a:solidFill>
                <a:latin typeface="Consola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2111" y="2176272"/>
            <a:ext cx="155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2111" y="2633472"/>
            <a:ext cx="15531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Receiver recomputes digest and checks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822191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30">
                <a:solidFill>
                  <a:srgbClr val="38BDF8"/>
                </a:solidFill>
                <a:latin typeface="Segoe UI"/>
              </a:rPr>
              <a:t>VERIFICATION OUTCOMES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169663"/>
            <a:ext cx="5363052" cy="1755648"/>
          </a:xfrm>
          <a:prstGeom prst="roundRect">
            <a:avLst>
              <a:gd name="adj" fmla="val 3500"/>
            </a:avLst>
          </a:prstGeom>
          <a:solidFill>
            <a:srgbClr val="142B22"/>
          </a:solidFill>
          <a:ln w="1143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41247" y="4370831"/>
            <a:ext cx="48144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22C55E"/>
                </a:solidFill>
                <a:latin typeface="Segoe UI"/>
              </a:rPr>
              <a:t>✅  PAYLOAD INTACT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Segoe UI"/>
              </a:rPr>
              <a:t>Recomputed digest equals the signed digest and the PSS verification succeeds → "Verification successful. File is secure."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Status code returned to the client: success  ·  badge: ✅ Secure File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1715" y="4169663"/>
            <a:ext cx="5363052" cy="1755648"/>
          </a:xfrm>
          <a:prstGeom prst="roundRect">
            <a:avLst>
              <a:gd name="adj" fmla="val 3500"/>
            </a:avLst>
          </a:prstGeom>
          <a:solidFill>
            <a:srgbClr val="2A1418"/>
          </a:solidFill>
          <a:ln w="1143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36035" y="4370831"/>
            <a:ext cx="48144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EF4444"/>
                </a:solidFill>
                <a:latin typeface="Segoe UI"/>
              </a:rPr>
              <a:t>🚨  PAYLOAD TAMPERED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Segoe UI"/>
              </a:rPr>
              <a:t>The recomputed digest no longer matches the signed digest, so public_key.verify() raises → "Verification failed. Attack detected."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Status code returned to the client: danger  ·  badge: 🚨 ATTACK DETECTED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MODULE 1 · KEY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crypto_utils.generate_keys()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6263640" cy="4773168"/>
          </a:xfrm>
          <a:prstGeom prst="roundRect">
            <a:avLst>
              <a:gd name="adj" fmla="val 3500"/>
            </a:avLst>
          </a:prstGeom>
          <a:solidFill>
            <a:srgbClr val="0D1628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600200"/>
            <a:ext cx="58613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38BDF8"/>
                </a:solidFill>
                <a:latin typeface="Consolas"/>
              </a:rPr>
              <a:t>crypto_utils.py  ·  generate_keys()  (abridged)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1865376"/>
            <a:ext cx="5586983" cy="433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1  </a:t>
            </a:r>
            <a:r>
              <a:rPr sz="1040">
                <a:solidFill>
                  <a:srgbClr val="C492F0"/>
                </a:solidFill>
                <a:latin typeface="Consolas"/>
              </a:rPr>
              <a:t>def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generate_keys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2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os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makedirs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86EFAC"/>
                </a:solidFill>
                <a:latin typeface="Consolas"/>
              </a:rPr>
              <a:t>"keys"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exist_ok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C492F0"/>
                </a:solidFill>
                <a:latin typeface="Consolas"/>
              </a:rPr>
              <a:t>True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3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4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private_key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rsa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generate_private_key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5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public_exponent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FDBA74"/>
                </a:solidFill>
                <a:latin typeface="Consolas"/>
              </a:rPr>
              <a:t>65537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6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key_size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FDBA74"/>
                </a:solidFill>
                <a:latin typeface="Consolas"/>
              </a:rPr>
              <a:t>2048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7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8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public_key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private_key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public_key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9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10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with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open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86EFAC"/>
                </a:solidFill>
                <a:latin typeface="Consolas"/>
              </a:rPr>
              <a:t>"keys/private_key.pem"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"wb"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as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11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write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private_key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private_bytes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12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encoding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serialization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Encoding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PEM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13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format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serialization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PrivateFormat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PKCS8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14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encryption_algorithm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serialization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NoEncryption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15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16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17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with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open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86EFAC"/>
                </a:solidFill>
                <a:latin typeface="Consolas"/>
              </a:rPr>
              <a:t>"keys/public_key.pem"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"wb"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as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18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write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public_key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public_bytes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19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encoding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serialization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Encoding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PEM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20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format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serialization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PublicFormat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SubjectPublicKeyInfo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21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22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23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return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{</a:t>
            </a:r>
            <a:r>
              <a:rPr sz="1040">
                <a:solidFill>
                  <a:srgbClr val="86EFAC"/>
                </a:solidFill>
                <a:latin typeface="Consolas"/>
              </a:rPr>
              <a:t>"status"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"success"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24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"msg"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"RSA public and private keys generated successfully."</a:t>
            </a:r>
            <a:r>
              <a:rPr sz="104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536192"/>
            <a:ext cx="4519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30">
                <a:solidFill>
                  <a:srgbClr val="38BDF8"/>
                </a:solidFill>
                <a:latin typeface="Segoe UI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1883664"/>
            <a:ext cx="4519879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20" b="1">
                <a:solidFill>
                  <a:srgbClr val="F8FAFC"/>
                </a:solidFill>
                <a:latin typeface="Segoe UI"/>
              </a:rPr>
              <a:t>RSA-2048 — </a:t>
            </a:r>
            <a:r>
              <a:rPr sz="1220">
                <a:solidFill>
                  <a:srgbClr val="CBD5E1"/>
                </a:solidFill>
                <a:latin typeface="Segoe UI"/>
              </a:rPr>
              <a:t>a 2048-bit modulus with the standard public exponent 65537. Generating a fresh pair on demand removes any reliance on hard-coded key material.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2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20" b="1">
                <a:solidFill>
                  <a:srgbClr val="F8FAFC"/>
                </a:solidFill>
                <a:latin typeface="Segoe UI"/>
              </a:rPr>
              <a:t>PKCS#8 — </a:t>
            </a:r>
            <a:r>
              <a:rPr sz="1220">
                <a:solidFill>
                  <a:srgbClr val="CBD5E1"/>
                </a:solidFill>
                <a:latin typeface="Segoe UI"/>
              </a:rPr>
              <a:t>the private key is serialised in the modern, interoperable private-key format.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2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20" b="1">
                <a:solidFill>
                  <a:srgbClr val="F8FAFC"/>
                </a:solidFill>
                <a:latin typeface="Segoe UI"/>
              </a:rPr>
              <a:t>SubjectPublicKeyInfo — </a:t>
            </a:r>
            <a:r>
              <a:rPr sz="1220">
                <a:solidFill>
                  <a:srgbClr val="CBD5E1"/>
                </a:solidFill>
                <a:latin typeface="Segoe UI"/>
              </a:rPr>
              <a:t>the public key is serialised in X.509 SPKI form, the format every TLS stack expects.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2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20" b="1">
                <a:solidFill>
                  <a:srgbClr val="F8FAFC"/>
                </a:solidFill>
                <a:latin typeface="Segoe UI"/>
              </a:rPr>
              <a:t>PEM armour — </a:t>
            </a:r>
            <a:r>
              <a:rPr sz="1220">
                <a:solidFill>
                  <a:srgbClr val="CBD5E1"/>
                </a:solidFill>
                <a:latin typeface="Segoe UI"/>
              </a:rPr>
              <a:t>base64-encoded text with BEGIN/END headers, so keys can be inspected, copied or published easily.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04888" y="4462272"/>
            <a:ext cx="4519879" cy="1828800"/>
          </a:xfrm>
          <a:prstGeom prst="roundRect">
            <a:avLst>
              <a:gd name="adj" fmla="val 3500"/>
            </a:avLst>
          </a:prstGeom>
          <a:solidFill>
            <a:srgbClr val="0D1628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42632" y="4626864"/>
            <a:ext cx="4016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FACC15"/>
                </a:solidFill>
                <a:latin typeface="Segoe UI"/>
              </a:rPr>
              <a:t>GENERATED ARTEFACTS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2" y="4956048"/>
            <a:ext cx="401695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keys/private_key.pem
</a:t>
            </a:r>
            <a:r>
              <a:rPr sz="1050">
                <a:solidFill>
                  <a:srgbClr val="94A3B8"/>
                </a:solidFill>
                <a:latin typeface="Segoe UI"/>
              </a:rPr>
              <a:t>1,704 bytes · PKCS#8 · RSA-2048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keys/public_key.pem
</a:t>
            </a:r>
            <a:r>
              <a:rPr sz="1050">
                <a:solidFill>
                  <a:srgbClr val="94A3B8"/>
                </a:solidFill>
                <a:latin typeface="Segoe UI"/>
              </a:rPr>
              <a:t>451 bytes · SPKI · RSA-2048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MODULE 2 · ENCRYPT +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crypto_utils.encrypt_file()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6263640" cy="4773168"/>
          </a:xfrm>
          <a:prstGeom prst="roundRect">
            <a:avLst>
              <a:gd name="adj" fmla="val 3500"/>
            </a:avLst>
          </a:prstGeom>
          <a:solidFill>
            <a:srgbClr val="0D1628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600200"/>
            <a:ext cx="58613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38BDF8"/>
                </a:solidFill>
                <a:latin typeface="Consolas"/>
              </a:rPr>
              <a:t>crypto_utils.py  ·  encrypt_file()  (abridged)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1865376"/>
            <a:ext cx="5586983" cy="433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1  </a:t>
            </a:r>
            <a:r>
              <a:rPr sz="1040">
                <a:solidFill>
                  <a:srgbClr val="C492F0"/>
                </a:solidFill>
                <a:latin typeface="Consolas"/>
              </a:rPr>
              <a:t>with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open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86EFAC"/>
                </a:solidFill>
                <a:latin typeface="Consolas"/>
              </a:rPr>
              <a:t>"input_files/sample.txt"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"rb"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as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2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read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3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4  </a:t>
            </a:r>
            <a:r>
              <a:rPr sz="1040">
                <a:solidFill>
                  <a:srgbClr val="C492F0"/>
                </a:solidFill>
                <a:latin typeface="Consolas"/>
              </a:rPr>
              <a:t>with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open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86EFAC"/>
                </a:solidFill>
                <a:latin typeface="Consolas"/>
              </a:rPr>
              <a:t>"keys/private_key.pem"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"rb"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as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5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private_key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serialization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load_pem_private_key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read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password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C492F0"/>
                </a:solidFill>
                <a:latin typeface="Consolas"/>
              </a:rPr>
              <a:t>None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6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7  </a:t>
            </a:r>
            <a:r>
              <a:rPr sz="1040">
                <a:solidFill>
                  <a:srgbClr val="E2E8F0"/>
                </a:solidFill>
                <a:latin typeface="Consolas"/>
              </a:rPr>
              <a:t>digest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hashes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Hash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hashes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SHA256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8  </a:t>
            </a:r>
            <a:r>
              <a:rPr sz="1040">
                <a:solidFill>
                  <a:srgbClr val="E2E8F0"/>
                </a:solidFill>
                <a:latin typeface="Consolas"/>
              </a:rPr>
              <a:t>digest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update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9  </a:t>
            </a:r>
            <a:r>
              <a:rPr sz="1040">
                <a:solidFill>
                  <a:srgbClr val="E2E8F0"/>
                </a:solidFill>
                <a:latin typeface="Consolas"/>
              </a:rPr>
              <a:t>file_hash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digest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finalize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10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11  </a:t>
            </a:r>
            <a:r>
              <a:rPr sz="1040">
                <a:solidFill>
                  <a:srgbClr val="E2E8F0"/>
                </a:solidFill>
                <a:latin typeface="Consolas"/>
              </a:rPr>
              <a:t>signature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private_key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sign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12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file_hash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13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padding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PSS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14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mgf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padding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MGF1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hashes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SHA256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15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salt_length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padding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PSS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MAX_LENGTH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16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17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hashes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SHA256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18  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19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20  </a:t>
            </a:r>
            <a:r>
              <a:rPr sz="1040">
                <a:solidFill>
                  <a:srgbClr val="C492F0"/>
                </a:solidFill>
                <a:latin typeface="Consolas"/>
              </a:rPr>
              <a:t>with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open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86EFAC"/>
                </a:solidFill>
                <a:latin typeface="Consolas"/>
              </a:rPr>
              <a:t>"output/encrypted_file.bin"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"wb"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as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21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write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22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23  </a:t>
            </a:r>
            <a:r>
              <a:rPr sz="1040">
                <a:solidFill>
                  <a:srgbClr val="C492F0"/>
                </a:solidFill>
                <a:latin typeface="Consolas"/>
              </a:rPr>
              <a:t>with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open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86EFAC"/>
                </a:solidFill>
                <a:latin typeface="Consolas"/>
              </a:rPr>
              <a:t>"output/signature.bin"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"wb"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as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24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write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signature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536192"/>
            <a:ext cx="4519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30">
                <a:solidFill>
                  <a:srgbClr val="38BDF8"/>
                </a:solidFill>
                <a:latin typeface="Segoe UI"/>
              </a:rPr>
              <a:t>PROCESSING 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04888" y="188366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42236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Consola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1892807"/>
            <a:ext cx="39438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Read payload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Load input_files/sample.txt as raw bytes.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04888" y="252374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42236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2532887"/>
            <a:ext cx="39438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Load signer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Read the PKCS#8 private key from keys/.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4888" y="316382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42236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3172968"/>
            <a:ext cx="39438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Digest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SHA-256 over the exact byte sequence → 32-byte hash.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4888" y="380390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42236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3813048"/>
            <a:ext cx="39438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Sign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RSA-PSS over the digest with a fresh 32-byte random salt.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04888" y="444398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42236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4453128"/>
            <a:ext cx="39438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Persist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Write payload copy and detached signature to output/.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5212080"/>
            <a:ext cx="4519879" cy="1170432"/>
          </a:xfrm>
          <a:prstGeom prst="roundRect">
            <a:avLst>
              <a:gd name="adj" fmla="val 3500"/>
            </a:avLst>
          </a:prstGeom>
          <a:solidFill>
            <a:srgbClr val="161E36"/>
          </a:solidFill>
          <a:ln w="1143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42632" y="5376672"/>
            <a:ext cx="4016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FACC15"/>
                </a:solidFill>
                <a:latin typeface="Segoe UI"/>
              </a:rPr>
              <a:t>DETACHED SIGNATURE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The signature is stored separately from the payload, so an attacker can rewrite the payload but can never re-sign it without the private key.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MODULE 3 · ADVERSARY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crypto_utils.attack_file()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6263640" cy="4773168"/>
          </a:xfrm>
          <a:prstGeom prst="roundRect">
            <a:avLst>
              <a:gd name="adj" fmla="val 3500"/>
            </a:avLst>
          </a:prstGeom>
          <a:solidFill>
            <a:srgbClr val="0D1628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600200"/>
            <a:ext cx="58613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38BDF8"/>
                </a:solidFill>
                <a:latin typeface="Consolas"/>
              </a:rPr>
              <a:t>crypto_utils.py  ·  attack_file()  (abridged)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1865376"/>
            <a:ext cx="5586983" cy="433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1  </a:t>
            </a:r>
            <a:r>
              <a:rPr sz="1040">
                <a:solidFill>
                  <a:srgbClr val="E2E8F0"/>
                </a:solidFill>
                <a:latin typeface="Consolas"/>
              </a:rPr>
              <a:t>encrypted_path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"output/encrypted_file.bin"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2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3  </a:t>
            </a:r>
            <a:r>
              <a:rPr sz="1040">
                <a:solidFill>
                  <a:srgbClr val="C492F0"/>
                </a:solidFill>
                <a:latin typeface="Consolas"/>
              </a:rPr>
              <a:t>with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open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encrypted_path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"rb"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as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4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bytearray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read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5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6  </a:t>
            </a:r>
            <a:r>
              <a:rPr sz="1040">
                <a:solidFill>
                  <a:srgbClr val="C492F0"/>
                </a:solidFill>
                <a:latin typeface="Consolas"/>
              </a:rPr>
              <a:t>if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len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DBA74"/>
                </a:solidFill>
                <a:latin typeface="Consolas"/>
              </a:rPr>
              <a:t>0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7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return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{</a:t>
            </a:r>
            <a:r>
              <a:rPr sz="1040">
                <a:solidFill>
                  <a:srgbClr val="86EFAC"/>
                </a:solidFill>
                <a:latin typeface="Consolas"/>
              </a:rPr>
              <a:t>"status"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"error"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8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"msg"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"Encrypted file is empty."</a:t>
            </a:r>
            <a:r>
              <a:rPr sz="1040"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 9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10  </a:t>
            </a:r>
            <a:r>
              <a:rPr sz="1040">
                <a:solidFill>
                  <a:srgbClr val="E2E8F0"/>
                </a:solidFill>
                <a:latin typeface="Consolas"/>
              </a:rPr>
              <a:t>changed_index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DBA74"/>
                </a:solidFill>
                <a:latin typeface="Consolas"/>
              </a:rPr>
              <a:t>10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if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len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&gt;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DBA74"/>
                </a:solidFill>
                <a:latin typeface="Consolas"/>
              </a:rPr>
              <a:t>10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else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DBA74"/>
                </a:solidFill>
                <a:latin typeface="Consolas"/>
              </a:rPr>
              <a:t>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11  </a:t>
            </a:r>
            <a:r>
              <a:rPr sz="1040">
                <a:solidFill>
                  <a:srgbClr val="E2E8F0"/>
                </a:solidFill>
                <a:latin typeface="Consolas"/>
              </a:rPr>
              <a:t>old_value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[</a:t>
            </a:r>
            <a:r>
              <a:rPr sz="1040">
                <a:solidFill>
                  <a:srgbClr val="E2E8F0"/>
                </a:solidFill>
                <a:latin typeface="Consolas"/>
              </a:rPr>
              <a:t>changed_index</a:t>
            </a:r>
            <a:r>
              <a:rPr sz="1040">
                <a:solidFill>
                  <a:srgbClr val="E2E8F0"/>
                </a:solidFill>
                <a:latin typeface="Consolas"/>
              </a:rPr>
              <a:t>]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12  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[</a:t>
            </a:r>
            <a:r>
              <a:rPr sz="1040">
                <a:solidFill>
                  <a:srgbClr val="E2E8F0"/>
                </a:solidFill>
                <a:latin typeface="Consolas"/>
              </a:rPr>
              <a:t>changed_index</a:t>
            </a:r>
            <a:r>
              <a:rPr sz="1040">
                <a:solidFill>
                  <a:srgbClr val="E2E8F0"/>
                </a:solidFill>
                <a:latin typeface="Consolas"/>
              </a:rPr>
              <a:t>]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[</a:t>
            </a:r>
            <a:r>
              <a:rPr sz="1040">
                <a:solidFill>
                  <a:srgbClr val="E2E8F0"/>
                </a:solidFill>
                <a:latin typeface="Consolas"/>
              </a:rPr>
              <a:t>changed_index</a:t>
            </a:r>
            <a:r>
              <a:rPr sz="1040">
                <a:solidFill>
                  <a:srgbClr val="E2E8F0"/>
                </a:solidFill>
                <a:latin typeface="Consolas"/>
              </a:rPr>
              <a:t>]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+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DBA74"/>
                </a:solidFill>
                <a:latin typeface="Consolas"/>
              </a:rPr>
              <a:t>5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%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DBA74"/>
                </a:solidFill>
                <a:latin typeface="Consolas"/>
              </a:rPr>
              <a:t>256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13  </a:t>
            </a:r>
            <a:r>
              <a:rPr sz="1040">
                <a:solidFill>
                  <a:srgbClr val="E2E8F0"/>
                </a:solidFill>
                <a:latin typeface="Consolas"/>
              </a:rPr>
              <a:t>new_value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=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[</a:t>
            </a:r>
            <a:r>
              <a:rPr sz="1040">
                <a:solidFill>
                  <a:srgbClr val="E2E8F0"/>
                </a:solidFill>
                <a:latin typeface="Consolas"/>
              </a:rPr>
              <a:t>changed_index</a:t>
            </a:r>
            <a:r>
              <a:rPr sz="1040">
                <a:solidFill>
                  <a:srgbClr val="E2E8F0"/>
                </a:solidFill>
                <a:latin typeface="Consolas"/>
              </a:rPr>
              <a:t>]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14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15  </a:t>
            </a:r>
            <a:r>
              <a:rPr sz="1040">
                <a:solidFill>
                  <a:srgbClr val="C492F0"/>
                </a:solidFill>
                <a:latin typeface="Consolas"/>
              </a:rPr>
              <a:t>with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F0ABFC"/>
                </a:solidFill>
                <a:latin typeface="Consolas"/>
              </a:rPr>
              <a:t>open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encrypted_path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"wb"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C492F0"/>
                </a:solidFill>
                <a:latin typeface="Consolas"/>
              </a:rPr>
              <a:t>as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16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f</a:t>
            </a:r>
            <a:r>
              <a:rPr sz="1040">
                <a:solidFill>
                  <a:srgbClr val="E2E8F0"/>
                </a:solidFill>
                <a:latin typeface="Consolas"/>
              </a:rPr>
              <a:t>.</a:t>
            </a:r>
            <a:r>
              <a:rPr sz="1040">
                <a:solidFill>
                  <a:srgbClr val="7DD3FC"/>
                </a:solidFill>
                <a:latin typeface="Consolas"/>
              </a:rPr>
              <a:t>write</a:t>
            </a:r>
            <a:r>
              <a:rPr sz="1040">
                <a:solidFill>
                  <a:srgbClr val="E2E8F0"/>
                </a:solidFill>
                <a:latin typeface="Consolas"/>
              </a:rPr>
              <a:t>(</a:t>
            </a:r>
            <a:r>
              <a:rPr sz="1040">
                <a:solidFill>
                  <a:srgbClr val="E2E8F0"/>
                </a:solidFill>
                <a:latin typeface="Consolas"/>
              </a:rPr>
              <a:t>data</a:t>
            </a:r>
            <a:r>
              <a:rPr sz="104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17  </a:t>
            </a:r>
            <a:r>
              <a:rPr sz="104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18  </a:t>
            </a:r>
            <a:r>
              <a:rPr sz="1040">
                <a:solidFill>
                  <a:srgbClr val="C492F0"/>
                </a:solidFill>
                <a:latin typeface="Consolas"/>
              </a:rPr>
              <a:t>return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19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"status"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"warning"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20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"msg"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"Attack simulation completed. File was tampered."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21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"changed_byte_index"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changed_index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22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"old_byte_value"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old_value</a:t>
            </a:r>
            <a:r>
              <a:rPr sz="104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23 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86EFAC"/>
                </a:solidFill>
                <a:latin typeface="Consolas"/>
              </a:rPr>
              <a:t>"new_byte_value"</a:t>
            </a:r>
            <a:r>
              <a:rPr sz="1040">
                <a:solidFill>
                  <a:srgbClr val="E2E8F0"/>
                </a:solidFill>
                <a:latin typeface="Consolas"/>
              </a:rPr>
              <a:t>:</a:t>
            </a:r>
            <a:r>
              <a:rPr sz="1040">
                <a:solidFill>
                  <a:srgbClr val="E2E8F0"/>
                </a:solidFill>
                <a:latin typeface="Consolas"/>
              </a:rPr>
              <a:t> </a:t>
            </a:r>
            <a:r>
              <a:rPr sz="1040">
                <a:solidFill>
                  <a:srgbClr val="E2E8F0"/>
                </a:solidFill>
                <a:latin typeface="Consolas"/>
              </a:rPr>
              <a:t>new_value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D506E"/>
                </a:solidFill>
                <a:latin typeface="Consolas"/>
              </a:rPr>
              <a:t>24  </a:t>
            </a:r>
            <a:r>
              <a:rPr sz="104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536192"/>
            <a:ext cx="4519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30">
                <a:solidFill>
                  <a:srgbClr val="EF4444"/>
                </a:solidFill>
                <a:latin typeface="Segoe UI"/>
              </a:rPr>
              <a:t>THE ADVERSARY'S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1883664"/>
            <a:ext cx="451987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F4444"/>
                </a:solidFill>
                <a:latin typeface="Segoe UI"/>
              </a:rPr>
              <a:t>▸  </a:t>
            </a:r>
            <a:r>
              <a:rPr sz="1200" b="1">
                <a:solidFill>
                  <a:srgbClr val="F8FAFC"/>
                </a:solidFill>
                <a:latin typeface="Segoe UI"/>
              </a:rPr>
              <a:t>Read as bytearray — </a:t>
            </a:r>
            <a:r>
              <a:rPr sz="1200">
                <a:solidFill>
                  <a:srgbClr val="CBD5E1"/>
                </a:solidFill>
                <a:latin typeface="Segoe UI"/>
              </a:rPr>
              <a:t>the payload is opened for in-place, single-byte mutation.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>
                <a:solidFill>
                  <a:srgbClr val="EF4444"/>
                </a:solidFill>
                <a:latin typeface="Segoe UI"/>
              </a:rPr>
              <a:t>▸  </a:t>
            </a:r>
            <a:r>
              <a:rPr sz="1200" b="1">
                <a:solidFill>
                  <a:srgbClr val="F8FAFC"/>
                </a:solidFill>
                <a:latin typeface="Segoe UI"/>
              </a:rPr>
              <a:t>Offset 10 is targeted — </a:t>
            </a:r>
            <a:r>
              <a:rPr sz="1200">
                <a:solidFill>
                  <a:srgbClr val="CBD5E1"/>
                </a:solidFill>
                <a:latin typeface="Segoe UI"/>
              </a:rPr>
              <a:t>the value is incremented by 5 modulo 256, so 32 → 37.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>
                <a:solidFill>
                  <a:srgbClr val="EF4444"/>
                </a:solidFill>
                <a:latin typeface="Segoe UI"/>
              </a:rPr>
              <a:t>▸  </a:t>
            </a:r>
            <a:r>
              <a:rPr sz="1200" b="1">
                <a:solidFill>
                  <a:srgbClr val="F8FAFC"/>
                </a:solidFill>
                <a:latin typeface="Segoe UI"/>
              </a:rPr>
              <a:t>No key material involved — </a:t>
            </a:r>
            <a:r>
              <a:rPr sz="1200">
                <a:solidFill>
                  <a:srgbClr val="CBD5E1"/>
                </a:solidFill>
                <a:latin typeface="Segoe UI"/>
              </a:rPr>
              <a:t>Eve never touches the private key; she only edits bytes.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04888" y="3730752"/>
            <a:ext cx="4519879" cy="2313432"/>
          </a:xfrm>
          <a:prstGeom prst="roundRect">
            <a:avLst>
              <a:gd name="adj" fmla="val 3500"/>
            </a:avLst>
          </a:prstGeom>
          <a:solidFill>
            <a:srgbClr val="1A182C"/>
          </a:solidFill>
          <a:ln w="1143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42632" y="3913632"/>
            <a:ext cx="4016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A78BFA"/>
                </a:solidFill>
                <a:latin typeface="Segoe UI"/>
              </a:rPr>
              <a:t>BYTE-LEVEL DIFF · sample.txt (34 bytes)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2" y="429768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offset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297680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Consolas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4297680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6184" y="4297680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Consolas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2" y="466344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original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663440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Consolas"/>
              </a:rPr>
              <a:t>109 'm'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45752" y="4626864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3A2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445752" y="4663440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ACC15"/>
                </a:solidFill>
                <a:latin typeface="Consolas"/>
              </a:rPr>
              <a:t>32 ' 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16184" y="4663440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Consolas"/>
              </a:rPr>
              <a:t>86 'V'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2" y="502920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tampered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029200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Consolas"/>
              </a:rPr>
              <a:t>109 'm'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45752" y="4992624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3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445752" y="5029200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4444"/>
                </a:solidFill>
                <a:latin typeface="Consolas"/>
              </a:rPr>
              <a:t>37 '%'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16184" y="5029200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Consolas"/>
              </a:rPr>
              <a:t>86 'V'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2" y="5449824"/>
            <a:ext cx="4016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Result: the single space at offset 10 becomes '%'. Every other byte is untouched — yet the whole file is now untrustworthy.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MODULE 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crypto_utils.verify_file()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6263640" cy="4773168"/>
          </a:xfrm>
          <a:prstGeom prst="roundRect">
            <a:avLst>
              <a:gd name="adj" fmla="val 3500"/>
            </a:avLst>
          </a:prstGeom>
          <a:solidFill>
            <a:srgbClr val="0D1628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600200"/>
            <a:ext cx="58613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38BDF8"/>
                </a:solidFill>
                <a:latin typeface="Consolas"/>
              </a:rPr>
              <a:t>crypto_utils.py  ·  verify_file()  (abridged)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1865376"/>
            <a:ext cx="5586983" cy="433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 1  </a:t>
            </a:r>
            <a:r>
              <a:rPr sz="1000">
                <a:solidFill>
                  <a:srgbClr val="C492F0"/>
                </a:solidFill>
                <a:latin typeface="Consolas"/>
              </a:rPr>
              <a:t>with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F0ABFC"/>
                </a:solidFill>
                <a:latin typeface="Consolas"/>
              </a:rPr>
              <a:t>open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encrypted_path</a:t>
            </a:r>
            <a:r>
              <a:rPr sz="1000">
                <a:solidFill>
                  <a:srgbClr val="E2E8F0"/>
                </a:solidFill>
                <a:latin typeface="Consolas"/>
              </a:rPr>
              <a:t>,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86EFAC"/>
                </a:solidFill>
                <a:latin typeface="Consolas"/>
              </a:rPr>
              <a:t>"rb"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C492F0"/>
                </a:solidFill>
                <a:latin typeface="Consolas"/>
              </a:rPr>
              <a:t>as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f</a:t>
            </a:r>
            <a:r>
              <a:rPr sz="100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 2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data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=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f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read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 3  </a:t>
            </a:r>
            <a:r>
              <a:rPr sz="1000">
                <a:solidFill>
                  <a:srgbClr val="C492F0"/>
                </a:solidFill>
                <a:latin typeface="Consolas"/>
              </a:rPr>
              <a:t>with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F0ABFC"/>
                </a:solidFill>
                <a:latin typeface="Consolas"/>
              </a:rPr>
              <a:t>open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signature_path</a:t>
            </a:r>
            <a:r>
              <a:rPr sz="1000">
                <a:solidFill>
                  <a:srgbClr val="E2E8F0"/>
                </a:solidFill>
                <a:latin typeface="Consolas"/>
              </a:rPr>
              <a:t>,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86EFAC"/>
                </a:solidFill>
                <a:latin typeface="Consolas"/>
              </a:rPr>
              <a:t>"rb"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C492F0"/>
                </a:solidFill>
                <a:latin typeface="Consolas"/>
              </a:rPr>
              <a:t>as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f</a:t>
            </a:r>
            <a:r>
              <a:rPr sz="100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 4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signature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=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f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read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 5  </a:t>
            </a:r>
            <a:r>
              <a:rPr sz="1000">
                <a:solidFill>
                  <a:srgbClr val="C492F0"/>
                </a:solidFill>
                <a:latin typeface="Consolas"/>
              </a:rPr>
              <a:t>with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F0ABFC"/>
                </a:solidFill>
                <a:latin typeface="Consolas"/>
              </a:rPr>
              <a:t>open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public_key_path</a:t>
            </a:r>
            <a:r>
              <a:rPr sz="1000">
                <a:solidFill>
                  <a:srgbClr val="E2E8F0"/>
                </a:solidFill>
                <a:latin typeface="Consolas"/>
              </a:rPr>
              <a:t>,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86EFAC"/>
                </a:solidFill>
                <a:latin typeface="Consolas"/>
              </a:rPr>
              <a:t>"rb"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C492F0"/>
                </a:solidFill>
                <a:latin typeface="Consolas"/>
              </a:rPr>
              <a:t>as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f</a:t>
            </a:r>
            <a:r>
              <a:rPr sz="100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 6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public_key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=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serialization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load_pem_public_key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f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read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 7  </a:t>
            </a:r>
            <a:r>
              <a:rPr sz="100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 8  </a:t>
            </a:r>
            <a:r>
              <a:rPr sz="1000">
                <a:solidFill>
                  <a:srgbClr val="E2E8F0"/>
                </a:solidFill>
                <a:latin typeface="Consolas"/>
              </a:rPr>
              <a:t>digest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=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hashes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Hash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hashes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SHA256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 9  </a:t>
            </a:r>
            <a:r>
              <a:rPr sz="1000">
                <a:solidFill>
                  <a:srgbClr val="E2E8F0"/>
                </a:solidFill>
                <a:latin typeface="Consolas"/>
              </a:rPr>
              <a:t>digest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update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data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10  </a:t>
            </a:r>
            <a:r>
              <a:rPr sz="1000">
                <a:solidFill>
                  <a:srgbClr val="E2E8F0"/>
                </a:solidFill>
                <a:latin typeface="Consolas"/>
              </a:rPr>
              <a:t>new_hash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=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digest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finalize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11  </a:t>
            </a:r>
            <a:r>
              <a:rPr sz="100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12  </a:t>
            </a:r>
            <a:r>
              <a:rPr sz="1000">
                <a:solidFill>
                  <a:srgbClr val="64748B"/>
                </a:solidFill>
                <a:latin typeface="Consolas"/>
              </a:rPr>
              <a:t># any mismatch raises InvalidSignature -&gt; the except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13  </a:t>
            </a:r>
            <a:r>
              <a:rPr sz="1000">
                <a:solidFill>
                  <a:srgbClr val="64748B"/>
                </a:solidFill>
                <a:latin typeface="Consolas"/>
              </a:rPr>
              <a:t># branch returns {"status": "danger", ...}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14  </a:t>
            </a:r>
            <a:r>
              <a:rPr sz="1000">
                <a:solidFill>
                  <a:srgbClr val="E2E8F0"/>
                </a:solidFill>
                <a:latin typeface="Consolas"/>
              </a:rPr>
              <a:t>public_key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verify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15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signature</a:t>
            </a:r>
            <a:r>
              <a:rPr sz="1000">
                <a:solidFill>
                  <a:srgbClr val="E2E8F0"/>
                </a:solidFill>
                <a:latin typeface="Consolas"/>
              </a:rPr>
              <a:t>,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new_hash</a:t>
            </a:r>
            <a:r>
              <a:rPr sz="100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16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padding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PSS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17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mgf</a:t>
            </a:r>
            <a:r>
              <a:rPr sz="1000">
                <a:solidFill>
                  <a:srgbClr val="E2E8F0"/>
                </a:solidFill>
                <a:latin typeface="Consolas"/>
              </a:rPr>
              <a:t>=</a:t>
            </a:r>
            <a:r>
              <a:rPr sz="1000">
                <a:solidFill>
                  <a:srgbClr val="E2E8F0"/>
                </a:solidFill>
                <a:latin typeface="Consolas"/>
              </a:rPr>
              <a:t>padding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MGF1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hashes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SHA256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  <a:r>
              <a:rPr sz="100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18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salt_length</a:t>
            </a:r>
            <a:r>
              <a:rPr sz="1000">
                <a:solidFill>
                  <a:srgbClr val="E2E8F0"/>
                </a:solidFill>
                <a:latin typeface="Consolas"/>
              </a:rPr>
              <a:t>=</a:t>
            </a:r>
            <a:r>
              <a:rPr sz="1000">
                <a:solidFill>
                  <a:srgbClr val="E2E8F0"/>
                </a:solidFill>
                <a:latin typeface="Consolas"/>
              </a:rPr>
              <a:t>padding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PSS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MAX_LENGTH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19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  <a:r>
              <a:rPr sz="100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20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hashes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7DD3FC"/>
                </a:solidFill>
                <a:latin typeface="Consolas"/>
              </a:rPr>
              <a:t>SHA256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21  </a:t>
            </a: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22  </a:t>
            </a:r>
            <a:r>
              <a:rPr sz="1000"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23  </a:t>
            </a:r>
            <a:r>
              <a:rPr sz="1000">
                <a:solidFill>
                  <a:srgbClr val="C492F0"/>
                </a:solidFill>
                <a:latin typeface="Consolas"/>
              </a:rPr>
              <a:t>return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  <a:r>
              <a:rPr sz="1000">
                <a:solidFill>
                  <a:srgbClr val="86EFAC"/>
                </a:solidFill>
                <a:latin typeface="Consolas"/>
              </a:rPr>
              <a:t>"status"</a:t>
            </a:r>
            <a:r>
              <a:rPr sz="1000">
                <a:solidFill>
                  <a:srgbClr val="E2E8F0"/>
                </a:solidFill>
                <a:latin typeface="Consolas"/>
              </a:rPr>
              <a:t>: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86EFAC"/>
                </a:solidFill>
                <a:latin typeface="Consolas"/>
              </a:rPr>
              <a:t>"success"</a:t>
            </a:r>
            <a:r>
              <a:rPr sz="100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24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86EFAC"/>
                </a:solidFill>
                <a:latin typeface="Consolas"/>
              </a:rPr>
              <a:t>"msg"</a:t>
            </a:r>
            <a:r>
              <a:rPr sz="1000">
                <a:solidFill>
                  <a:srgbClr val="E2E8F0"/>
                </a:solidFill>
                <a:latin typeface="Consolas"/>
              </a:rPr>
              <a:t>: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86EFAC"/>
                </a:solidFill>
                <a:latin typeface="Consolas"/>
              </a:rPr>
              <a:t>"Verification successful. File is secure."</a:t>
            </a:r>
            <a:r>
              <a:rPr sz="100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3D506E"/>
                </a:solidFill>
                <a:latin typeface="Consolas"/>
              </a:rPr>
              <a:t>25 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86EFAC"/>
                </a:solidFill>
                <a:latin typeface="Consolas"/>
              </a:rPr>
              <a:t>"verification_result"</a:t>
            </a:r>
            <a:r>
              <a:rPr sz="1000">
                <a:solidFill>
                  <a:srgbClr val="E2E8F0"/>
                </a:solidFill>
                <a:latin typeface="Consolas"/>
              </a:rPr>
              <a:t>: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86EFAC"/>
                </a:solidFill>
                <a:latin typeface="Consolas"/>
              </a:rPr>
              <a:t>"✅ Secure File"</a:t>
            </a: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04888" y="1517904"/>
            <a:ext cx="4519879" cy="2121408"/>
          </a:xfrm>
          <a:prstGeom prst="roundRect">
            <a:avLst>
              <a:gd name="adj" fmla="val 3500"/>
            </a:avLst>
          </a:prstGeom>
          <a:solidFill>
            <a:srgbClr val="142B22"/>
          </a:solidFill>
          <a:ln w="1143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42632" y="1682495"/>
            <a:ext cx="4016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22C55E"/>
                </a:solidFill>
                <a:latin typeface="Segoe UI"/>
              </a:rPr>
              <a:t>✅  INTACT PAYLOAD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2" y="1993391"/>
            <a:ext cx="4016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Consolas"/>
              </a:rPr>
              <a:t>status : "success"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Consolas"/>
              </a:rPr>
              <a:t>msg    : "Verification successful. File is secure."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C55E"/>
                </a:solidFill>
                <a:latin typeface="Consolas"/>
              </a:rPr>
              <a:t>badge  : ✅ Secure File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received_hash : 227dd5aceabf10f9b56a94b58a20a5f4...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04888" y="3822191"/>
            <a:ext cx="4519879" cy="2221992"/>
          </a:xfrm>
          <a:prstGeom prst="roundRect">
            <a:avLst>
              <a:gd name="adj" fmla="val 3500"/>
            </a:avLst>
          </a:prstGeom>
          <a:solidFill>
            <a:srgbClr val="2A1418"/>
          </a:solidFill>
          <a:ln w="1143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42632" y="3986783"/>
            <a:ext cx="4016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EF4444"/>
                </a:solidFill>
                <a:latin typeface="Segoe UI"/>
              </a:rPr>
              <a:t>🚨  TAMPERED PAYLOAD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2" y="4297679"/>
            <a:ext cx="401695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Consolas"/>
              </a:rPr>
              <a:t>status : "danger"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Consolas"/>
              </a:rPr>
              <a:t>msg    : "Verification failed. Attack detected."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F4444"/>
                </a:solidFill>
                <a:latin typeface="Consolas"/>
              </a:rPr>
              <a:t>badge  : 🚨 ATTACK DETECTED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public_key.verify() raised InvalidSignature → the catch-all handler converts the exception into a danger envelope.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Cryptographic walkthrough with real run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5363052" cy="2103120"/>
          </a:xfrm>
          <a:prstGeom prst="roundRect">
            <a:avLst>
              <a:gd name="adj" fmla="val 3500"/>
            </a:avLst>
          </a:prstGeom>
          <a:solidFill>
            <a:srgbClr val="142B22"/>
          </a:solidFill>
          <a:ln w="1143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1700784"/>
            <a:ext cx="48144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22C55E"/>
                </a:solidFill>
                <a:latin typeface="Segoe UI"/>
              </a:rPr>
              <a:t>BEFORE TAMPERING  · 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29967"/>
            <a:ext cx="481441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SHA-256 of payload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8FAFC"/>
                </a:solidFill>
                <a:latin typeface="Consolas"/>
              </a:rPr>
              <a:t>227dd5aceabf10f9b56a94b58a20a5f4295ff320f33f8d0e872dd11a0bdb52d4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Digest matches the value that was signed  →  PSS verification passes  →  file accepted.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1715" y="1517904"/>
            <a:ext cx="5363052" cy="2103120"/>
          </a:xfrm>
          <a:prstGeom prst="roundRect">
            <a:avLst>
              <a:gd name="adj" fmla="val 3500"/>
            </a:avLst>
          </a:prstGeom>
          <a:solidFill>
            <a:srgbClr val="2A1418"/>
          </a:solidFill>
          <a:ln w="1143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36035" y="1700784"/>
            <a:ext cx="48144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EF4444"/>
                </a:solidFill>
                <a:latin typeface="Segoe UI"/>
              </a:rPr>
              <a:t>AFTER TAMPERING  ·  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6035" y="2029967"/>
            <a:ext cx="481441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SHA-256 of payload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8FAFC"/>
                </a:solidFill>
                <a:latin typeface="Consolas"/>
              </a:rPr>
              <a:t>64111164c4b96a305a5b8660306e346e86056d88b9c8153aba9d4f40c5d4f4c1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Digest diverges  →  public_key.verify() raises  →  ATTACK DETECTED.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22191"/>
            <a:ext cx="11057839" cy="2176272"/>
          </a:xfrm>
          <a:prstGeom prst="roundRect">
            <a:avLst>
              <a:gd name="adj" fmla="val 3500"/>
            </a:avLst>
          </a:prstGeom>
          <a:solidFill>
            <a:srgbClr val="0D1628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7" y="3986783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FACC15"/>
                </a:solidFill>
                <a:latin typeface="Segoe UI"/>
              </a:rPr>
              <a:t>HEX DUMP OF output/encrypted_file.bin  ·  34 bytes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3375" y="4352544"/>
            <a:ext cx="178879" cy="274320"/>
          </a:xfrm>
          <a:prstGeom prst="roundRect">
            <a:avLst>
              <a:gd name="adj" fmla="val 25000"/>
            </a:avLst>
          </a:prstGeom>
          <a:solidFill>
            <a:srgbClr val="33260E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143375" y="4700016"/>
            <a:ext cx="178879" cy="274320"/>
          </a:xfrm>
          <a:prstGeom prst="roundRect">
            <a:avLst>
              <a:gd name="adj" fmla="val 25000"/>
            </a:avLst>
          </a:prstGeom>
          <a:solidFill>
            <a:srgbClr val="3F141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38912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onsolas"/>
              </a:rPr>
              <a:t>original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4389120"/>
            <a:ext cx="9320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Consolas"/>
              </a:rPr>
              <a:t>48 </a:t>
            </a:r>
            <a:r>
              <a:rPr sz="1050" b="0">
                <a:solidFill>
                  <a:srgbClr val="94A3B8"/>
                </a:solidFill>
                <a:latin typeface="Consolas"/>
              </a:rPr>
              <a:t>65 </a:t>
            </a:r>
            <a:r>
              <a:rPr sz="1050" b="0">
                <a:solidFill>
                  <a:srgbClr val="94A3B8"/>
                </a:solidFill>
                <a:latin typeface="Consolas"/>
              </a:rPr>
              <a:t>6C </a:t>
            </a:r>
            <a:r>
              <a:rPr sz="1050" b="0">
                <a:solidFill>
                  <a:srgbClr val="94A3B8"/>
                </a:solidFill>
                <a:latin typeface="Consolas"/>
              </a:rPr>
              <a:t>6C </a:t>
            </a:r>
            <a:r>
              <a:rPr sz="1050" b="0">
                <a:solidFill>
                  <a:srgbClr val="94A3B8"/>
                </a:solidFill>
                <a:latin typeface="Consolas"/>
              </a:rPr>
              <a:t>6F </a:t>
            </a:r>
            <a:r>
              <a:rPr sz="1050" b="0">
                <a:solidFill>
                  <a:srgbClr val="94A3B8"/>
                </a:solidFill>
                <a:latin typeface="Consolas"/>
              </a:rPr>
              <a:t>20 </a:t>
            </a:r>
            <a:r>
              <a:rPr sz="1050" b="0">
                <a:solidFill>
                  <a:srgbClr val="94A3B8"/>
                </a:solidFill>
                <a:latin typeface="Consolas"/>
              </a:rPr>
              <a:t>46 </a:t>
            </a:r>
            <a:r>
              <a:rPr sz="1050" b="0">
                <a:solidFill>
                  <a:srgbClr val="94A3B8"/>
                </a:solidFill>
                <a:latin typeface="Consolas"/>
              </a:rPr>
              <a:t>72 </a:t>
            </a:r>
            <a:r>
              <a:rPr sz="1050" b="0">
                <a:solidFill>
                  <a:srgbClr val="94A3B8"/>
                </a:solidFill>
                <a:latin typeface="Consolas"/>
              </a:rPr>
              <a:t>6F </a:t>
            </a:r>
            <a:r>
              <a:rPr sz="1050" b="0">
                <a:solidFill>
                  <a:srgbClr val="94A3B8"/>
                </a:solidFill>
                <a:latin typeface="Consolas"/>
              </a:rPr>
              <a:t>6D </a:t>
            </a:r>
            <a:r>
              <a:rPr sz="1050" b="1">
                <a:solidFill>
                  <a:srgbClr val="FACC15"/>
                </a:solidFill>
                <a:latin typeface="Consolas"/>
              </a:rPr>
              <a:t>20 </a:t>
            </a:r>
            <a:r>
              <a:rPr sz="1050" b="0">
                <a:solidFill>
                  <a:srgbClr val="94A3B8"/>
                </a:solidFill>
                <a:latin typeface="Consolas"/>
              </a:rPr>
              <a:t>56 </a:t>
            </a:r>
            <a:r>
              <a:rPr sz="1050" b="0">
                <a:solidFill>
                  <a:srgbClr val="94A3B8"/>
                </a:solidFill>
                <a:latin typeface="Consolas"/>
              </a:rPr>
              <a:t>61 </a:t>
            </a:r>
            <a:r>
              <a:rPr sz="1050" b="0">
                <a:solidFill>
                  <a:srgbClr val="94A3B8"/>
                </a:solidFill>
                <a:latin typeface="Consolas"/>
              </a:rPr>
              <a:t>6E </a:t>
            </a:r>
            <a:r>
              <a:rPr sz="1050" b="0">
                <a:solidFill>
                  <a:srgbClr val="94A3B8"/>
                </a:solidFill>
                <a:latin typeface="Consolas"/>
              </a:rPr>
              <a:t>73 </a:t>
            </a:r>
            <a:r>
              <a:rPr sz="1050" b="0">
                <a:solidFill>
                  <a:srgbClr val="94A3B8"/>
                </a:solidFill>
                <a:latin typeface="Consolas"/>
              </a:rPr>
              <a:t>68 </a:t>
            </a:r>
            <a:r>
              <a:rPr sz="1050" b="0">
                <a:solidFill>
                  <a:srgbClr val="94A3B8"/>
                </a:solidFill>
                <a:latin typeface="Consolas"/>
              </a:rPr>
              <a:t>69 </a:t>
            </a:r>
            <a:r>
              <a:rPr sz="1050" b="0">
                <a:solidFill>
                  <a:srgbClr val="94A3B8"/>
                </a:solidFill>
                <a:latin typeface="Consolas"/>
              </a:rPr>
              <a:t>6B </a:t>
            </a:r>
            <a:r>
              <a:rPr sz="1050" b="0">
                <a:solidFill>
                  <a:srgbClr val="94A3B8"/>
                </a:solidFill>
                <a:latin typeface="Consolas"/>
              </a:rPr>
              <a:t>61 </a:t>
            </a:r>
            <a:r>
              <a:rPr sz="1050" b="0">
                <a:solidFill>
                  <a:srgbClr val="94A3B8"/>
                </a:solidFill>
                <a:latin typeface="Consolas"/>
              </a:rPr>
              <a:t>20 </a:t>
            </a:r>
            <a:r>
              <a:rPr sz="1050" b="0">
                <a:solidFill>
                  <a:srgbClr val="94A3B8"/>
                </a:solidFill>
                <a:latin typeface="Consolas"/>
              </a:rPr>
              <a:t>4D </a:t>
            </a:r>
            <a:r>
              <a:rPr sz="1050" b="0">
                <a:solidFill>
                  <a:srgbClr val="94A3B8"/>
                </a:solidFill>
                <a:latin typeface="Consolas"/>
              </a:rPr>
              <a:t>61 </a:t>
            </a:r>
            <a:r>
              <a:rPr sz="1050" b="0">
                <a:solidFill>
                  <a:srgbClr val="94A3B8"/>
                </a:solidFill>
                <a:latin typeface="Consolas"/>
              </a:rPr>
              <a:t>64 </a:t>
            </a:r>
            <a:r>
              <a:rPr sz="1050" b="0">
                <a:solidFill>
                  <a:srgbClr val="94A3B8"/>
                </a:solidFill>
                <a:latin typeface="Consolas"/>
              </a:rPr>
              <a:t>68 </a:t>
            </a:r>
            <a:r>
              <a:rPr sz="1050" b="0">
                <a:solidFill>
                  <a:srgbClr val="94A3B8"/>
                </a:solidFill>
                <a:latin typeface="Consolas"/>
              </a:rPr>
              <a:t>61 </a:t>
            </a:r>
            <a:r>
              <a:rPr sz="1050" b="0">
                <a:solidFill>
                  <a:srgbClr val="94A3B8"/>
                </a:solidFill>
                <a:latin typeface="Consolas"/>
              </a:rPr>
              <a:t>76 </a:t>
            </a:r>
            <a:r>
              <a:rPr sz="1050" b="0">
                <a:solidFill>
                  <a:srgbClr val="94A3B8"/>
                </a:solidFill>
                <a:latin typeface="Consolas"/>
              </a:rPr>
              <a:t>20 </a:t>
            </a:r>
            <a:r>
              <a:rPr sz="1050" b="0">
                <a:solidFill>
                  <a:srgbClr val="94A3B8"/>
                </a:solidFill>
                <a:latin typeface="Consolas"/>
              </a:rPr>
              <a:t>56 </a:t>
            </a:r>
            <a:r>
              <a:rPr sz="1050" b="0">
                <a:solidFill>
                  <a:srgbClr val="94A3B8"/>
                </a:solidFill>
                <a:latin typeface="Consolas"/>
              </a:rPr>
              <a:t>65 </a:t>
            </a:r>
            <a:r>
              <a:rPr sz="1050" b="0">
                <a:solidFill>
                  <a:srgbClr val="94A3B8"/>
                </a:solidFill>
                <a:latin typeface="Consolas"/>
              </a:rPr>
              <a:t>64 </a:t>
            </a:r>
            <a:r>
              <a:rPr sz="1050" b="0">
                <a:solidFill>
                  <a:srgbClr val="94A3B8"/>
                </a:solidFill>
                <a:latin typeface="Consolas"/>
              </a:rPr>
              <a:t>61 </a:t>
            </a:r>
            <a:r>
              <a:rPr sz="1050" b="0">
                <a:solidFill>
                  <a:srgbClr val="94A3B8"/>
                </a:solidFill>
                <a:latin typeface="Consolas"/>
              </a:rPr>
              <a:t>6E </a:t>
            </a:r>
            <a:r>
              <a:rPr sz="1050" b="0">
                <a:solidFill>
                  <a:srgbClr val="94A3B8"/>
                </a:solidFill>
                <a:latin typeface="Consolas"/>
              </a:rPr>
              <a:t>74 </a:t>
            </a:r>
            <a:r>
              <a:rPr sz="1050" b="0">
                <a:solidFill>
                  <a:srgbClr val="94A3B8"/>
                </a:solidFill>
                <a:latin typeface="Consolas"/>
              </a:rPr>
              <a:t>20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736592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Consolas"/>
              </a:rPr>
              <a:t>tampered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4248" y="4736592"/>
            <a:ext cx="9320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Consolas"/>
              </a:rPr>
              <a:t>48 </a:t>
            </a:r>
            <a:r>
              <a:rPr sz="1050" b="0">
                <a:solidFill>
                  <a:srgbClr val="94A3B8"/>
                </a:solidFill>
                <a:latin typeface="Consolas"/>
              </a:rPr>
              <a:t>65 </a:t>
            </a:r>
            <a:r>
              <a:rPr sz="1050" b="0">
                <a:solidFill>
                  <a:srgbClr val="94A3B8"/>
                </a:solidFill>
                <a:latin typeface="Consolas"/>
              </a:rPr>
              <a:t>6C </a:t>
            </a:r>
            <a:r>
              <a:rPr sz="1050" b="0">
                <a:solidFill>
                  <a:srgbClr val="94A3B8"/>
                </a:solidFill>
                <a:latin typeface="Consolas"/>
              </a:rPr>
              <a:t>6C </a:t>
            </a:r>
            <a:r>
              <a:rPr sz="1050" b="0">
                <a:solidFill>
                  <a:srgbClr val="94A3B8"/>
                </a:solidFill>
                <a:latin typeface="Consolas"/>
              </a:rPr>
              <a:t>6F </a:t>
            </a:r>
            <a:r>
              <a:rPr sz="1050" b="0">
                <a:solidFill>
                  <a:srgbClr val="94A3B8"/>
                </a:solidFill>
                <a:latin typeface="Consolas"/>
              </a:rPr>
              <a:t>20 </a:t>
            </a:r>
            <a:r>
              <a:rPr sz="1050" b="0">
                <a:solidFill>
                  <a:srgbClr val="94A3B8"/>
                </a:solidFill>
                <a:latin typeface="Consolas"/>
              </a:rPr>
              <a:t>46 </a:t>
            </a:r>
            <a:r>
              <a:rPr sz="1050" b="0">
                <a:solidFill>
                  <a:srgbClr val="94A3B8"/>
                </a:solidFill>
                <a:latin typeface="Consolas"/>
              </a:rPr>
              <a:t>72 </a:t>
            </a:r>
            <a:r>
              <a:rPr sz="1050" b="0">
                <a:solidFill>
                  <a:srgbClr val="94A3B8"/>
                </a:solidFill>
                <a:latin typeface="Consolas"/>
              </a:rPr>
              <a:t>6F </a:t>
            </a:r>
            <a:r>
              <a:rPr sz="1050" b="0">
                <a:solidFill>
                  <a:srgbClr val="94A3B8"/>
                </a:solidFill>
                <a:latin typeface="Consolas"/>
              </a:rPr>
              <a:t>6D </a:t>
            </a:r>
            <a:r>
              <a:rPr sz="1050" b="1">
                <a:solidFill>
                  <a:srgbClr val="EF4444"/>
                </a:solidFill>
                <a:latin typeface="Consolas"/>
              </a:rPr>
              <a:t>25 </a:t>
            </a:r>
            <a:r>
              <a:rPr sz="1050" b="0">
                <a:solidFill>
                  <a:srgbClr val="94A3B8"/>
                </a:solidFill>
                <a:latin typeface="Consolas"/>
              </a:rPr>
              <a:t>56 </a:t>
            </a:r>
            <a:r>
              <a:rPr sz="1050" b="0">
                <a:solidFill>
                  <a:srgbClr val="94A3B8"/>
                </a:solidFill>
                <a:latin typeface="Consolas"/>
              </a:rPr>
              <a:t>61 </a:t>
            </a:r>
            <a:r>
              <a:rPr sz="1050" b="0">
                <a:solidFill>
                  <a:srgbClr val="94A3B8"/>
                </a:solidFill>
                <a:latin typeface="Consolas"/>
              </a:rPr>
              <a:t>6E </a:t>
            </a:r>
            <a:r>
              <a:rPr sz="1050" b="0">
                <a:solidFill>
                  <a:srgbClr val="94A3B8"/>
                </a:solidFill>
                <a:latin typeface="Consolas"/>
              </a:rPr>
              <a:t>73 </a:t>
            </a:r>
            <a:r>
              <a:rPr sz="1050" b="0">
                <a:solidFill>
                  <a:srgbClr val="94A3B8"/>
                </a:solidFill>
                <a:latin typeface="Consolas"/>
              </a:rPr>
              <a:t>68 </a:t>
            </a:r>
            <a:r>
              <a:rPr sz="1050" b="0">
                <a:solidFill>
                  <a:srgbClr val="94A3B8"/>
                </a:solidFill>
                <a:latin typeface="Consolas"/>
              </a:rPr>
              <a:t>69 </a:t>
            </a:r>
            <a:r>
              <a:rPr sz="1050" b="0">
                <a:solidFill>
                  <a:srgbClr val="94A3B8"/>
                </a:solidFill>
                <a:latin typeface="Consolas"/>
              </a:rPr>
              <a:t>6B </a:t>
            </a:r>
            <a:r>
              <a:rPr sz="1050" b="0">
                <a:solidFill>
                  <a:srgbClr val="94A3B8"/>
                </a:solidFill>
                <a:latin typeface="Consolas"/>
              </a:rPr>
              <a:t>61 </a:t>
            </a:r>
            <a:r>
              <a:rPr sz="1050" b="0">
                <a:solidFill>
                  <a:srgbClr val="94A3B8"/>
                </a:solidFill>
                <a:latin typeface="Consolas"/>
              </a:rPr>
              <a:t>20 </a:t>
            </a:r>
            <a:r>
              <a:rPr sz="1050" b="0">
                <a:solidFill>
                  <a:srgbClr val="94A3B8"/>
                </a:solidFill>
                <a:latin typeface="Consolas"/>
              </a:rPr>
              <a:t>4D </a:t>
            </a:r>
            <a:r>
              <a:rPr sz="1050" b="0">
                <a:solidFill>
                  <a:srgbClr val="94A3B8"/>
                </a:solidFill>
                <a:latin typeface="Consolas"/>
              </a:rPr>
              <a:t>61 </a:t>
            </a:r>
            <a:r>
              <a:rPr sz="1050" b="0">
                <a:solidFill>
                  <a:srgbClr val="94A3B8"/>
                </a:solidFill>
                <a:latin typeface="Consolas"/>
              </a:rPr>
              <a:t>64 </a:t>
            </a:r>
            <a:r>
              <a:rPr sz="1050" b="0">
                <a:solidFill>
                  <a:srgbClr val="94A3B8"/>
                </a:solidFill>
                <a:latin typeface="Consolas"/>
              </a:rPr>
              <a:t>68 </a:t>
            </a:r>
            <a:r>
              <a:rPr sz="1050" b="0">
                <a:solidFill>
                  <a:srgbClr val="94A3B8"/>
                </a:solidFill>
                <a:latin typeface="Consolas"/>
              </a:rPr>
              <a:t>61 </a:t>
            </a:r>
            <a:r>
              <a:rPr sz="1050" b="0">
                <a:solidFill>
                  <a:srgbClr val="94A3B8"/>
                </a:solidFill>
                <a:latin typeface="Consolas"/>
              </a:rPr>
              <a:t>76 </a:t>
            </a:r>
            <a:r>
              <a:rPr sz="1050" b="0">
                <a:solidFill>
                  <a:srgbClr val="94A3B8"/>
                </a:solidFill>
                <a:latin typeface="Consolas"/>
              </a:rPr>
              <a:t>20 </a:t>
            </a:r>
            <a:r>
              <a:rPr sz="1050" b="0">
                <a:solidFill>
                  <a:srgbClr val="94A3B8"/>
                </a:solidFill>
                <a:latin typeface="Consolas"/>
              </a:rPr>
              <a:t>56 </a:t>
            </a:r>
            <a:r>
              <a:rPr sz="1050" b="0">
                <a:solidFill>
                  <a:srgbClr val="94A3B8"/>
                </a:solidFill>
                <a:latin typeface="Consolas"/>
              </a:rPr>
              <a:t>65 </a:t>
            </a:r>
            <a:r>
              <a:rPr sz="1050" b="0">
                <a:solidFill>
                  <a:srgbClr val="94A3B8"/>
                </a:solidFill>
                <a:latin typeface="Consolas"/>
              </a:rPr>
              <a:t>64 </a:t>
            </a:r>
            <a:r>
              <a:rPr sz="1050" b="0">
                <a:solidFill>
                  <a:srgbClr val="94A3B8"/>
                </a:solidFill>
                <a:latin typeface="Consolas"/>
              </a:rPr>
              <a:t>61 </a:t>
            </a:r>
            <a:r>
              <a:rPr sz="1050" b="0">
                <a:solidFill>
                  <a:srgbClr val="94A3B8"/>
                </a:solidFill>
                <a:latin typeface="Consolas"/>
              </a:rPr>
              <a:t>6E </a:t>
            </a:r>
            <a:r>
              <a:rPr sz="1050" b="0">
                <a:solidFill>
                  <a:srgbClr val="94A3B8"/>
                </a:solidFill>
                <a:latin typeface="Consolas"/>
              </a:rPr>
              <a:t>74 </a:t>
            </a:r>
            <a:r>
              <a:rPr sz="1050" b="0">
                <a:solidFill>
                  <a:srgbClr val="94A3B8"/>
                </a:solidFill>
                <a:latin typeface="Consolas"/>
              </a:rPr>
              <a:t>20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120640"/>
            <a:ext cx="105091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onsolas"/>
              </a:rPr>
              <a:t>Offset 10:  </a:t>
            </a:r>
            <a:r>
              <a:rPr sz="1100" b="1" i="0">
                <a:solidFill>
                  <a:srgbClr val="FACC15"/>
                </a:solidFill>
                <a:latin typeface="Consolas"/>
              </a:rPr>
              <a:t>20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→  </a:t>
            </a:r>
            <a:r>
              <a:rPr sz="1100" b="1" i="0">
                <a:solidFill>
                  <a:srgbClr val="EF4444"/>
                </a:solidFill>
                <a:latin typeface="Consolas"/>
              </a:rPr>
              <a:t>25</a:t>
            </a:r>
            <a:r>
              <a:rPr sz="1100" b="0" i="0">
                <a:solidFill>
                  <a:srgbClr val="CBD5E1"/>
                </a:solidFill>
                <a:latin typeface="Segoe UI"/>
              </a:rPr>
              <a:t>      one byte changed, 256 possible values, but only the holder of the private key can produce a signature that matches the new content.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REST endpoints exposed by the Flask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17904"/>
          <a:ext cx="11057836" cy="278891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483"/>
                <a:gridCol w="1736354"/>
                <a:gridCol w="1736354"/>
                <a:gridCol w="4752129"/>
                <a:gridCol w="2010516"/>
              </a:tblGrid>
              <a:tr h="398417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Segoe UI"/>
                        </a:rPr>
                        <a:t>Handler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Segoe UI"/>
                        </a:rPr>
                        <a:t>Status returned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/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home()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Render the dashboard shell from templates/index.html.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/generate_keys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generate_keys()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Create an RSA-2048 key pair and write both PEM files.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success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/encrypt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encrypt_file()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Hash and sign the payload, then persist payload + signature.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success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/attack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attack_file()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Mutate a byte of the in-transit payload to emulate a MITM.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warning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/verify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verify_file()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Recompute the digest and verify the detached signature.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success / danger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8FAFC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/reset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reset_output()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Delete output artefacts so the pipeline can run again cleanly.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CBD5E1"/>
                          </a:solidFill>
                          <a:latin typeface="Segoe UI"/>
                        </a:rPr>
                        <a:t>reset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517136"/>
            <a:ext cx="5363052" cy="1719072"/>
          </a:xfrm>
          <a:prstGeom prst="roundRect">
            <a:avLst>
              <a:gd name="adj" fmla="val 3500"/>
            </a:avLst>
          </a:prstGeom>
          <a:solidFill>
            <a:srgbClr val="0D1628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4681727"/>
            <a:ext cx="48509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22C55E"/>
                </a:solidFill>
                <a:latin typeface="Segoe UI"/>
              </a:rPr>
              <a:t>RESPONSE ENVELOPE · /verify (success)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10912"/>
            <a:ext cx="48509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Consolas"/>
              </a:rPr>
              <a:t>{
  "status": "success",
  "msg": "Verification successful. File is secure.",
  "verification_result": "✅ Secure File",
  "received_hash": "227dd5aceabf10f9b56a94b5..."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1715" y="4517136"/>
            <a:ext cx="5363052" cy="1719072"/>
          </a:xfrm>
          <a:prstGeom prst="roundRect">
            <a:avLst>
              <a:gd name="adj" fmla="val 3500"/>
            </a:avLst>
          </a:prstGeom>
          <a:solidFill>
            <a:srgbClr val="0D1628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17747" y="4681727"/>
            <a:ext cx="48509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F4444"/>
                </a:solidFill>
                <a:latin typeface="Segoe UI"/>
              </a:rPr>
              <a:t>RESPONSE ENVELOPE · /verify (tampered)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7747" y="5010912"/>
            <a:ext cx="48509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BD5E1"/>
                </a:solidFill>
                <a:latin typeface="Consolas"/>
              </a:rPr>
              <a:t>{
  "status": "danger",
  "msg": "Verification failed. Attack detected.",
  "verification_result": "🚨 ATTACK DETECTED"
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The dashboard and its design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6629400" cy="2084831"/>
          </a:xfrm>
          <a:prstGeom prst="roundRect">
            <a:avLst>
              <a:gd name="adj" fmla="val 2000"/>
            </a:avLst>
          </a:prstGeom>
          <a:solidFill>
            <a:srgbClr val="080E1A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1" name="Picture 10" descr="Screenshot 2026-10-22 160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920" y="1600200"/>
            <a:ext cx="4695415" cy="16459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944" y="3310127"/>
            <a:ext cx="6373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Segoe UI"/>
              </a:rPr>
              <a:t>Landing state — control panel with status and detail panes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49039"/>
            <a:ext cx="6629400" cy="2313432"/>
          </a:xfrm>
          <a:prstGeom prst="roundRect">
            <a:avLst>
              <a:gd name="adj" fmla="val 2000"/>
            </a:avLst>
          </a:prstGeom>
          <a:solidFill>
            <a:srgbClr val="080E1A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4" name="Picture 13" descr="Screenshot 2026-10-22 1600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118" y="3831335"/>
            <a:ext cx="3459019" cy="18745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4944" y="5769864"/>
            <a:ext cx="6373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Segoe UI"/>
              </a:rPr>
              <a:t>After Encrypt + Sign — message digest and signature rendered as info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1536192"/>
            <a:ext cx="4154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30">
                <a:solidFill>
                  <a:srgbClr val="38BDF8"/>
                </a:solidFill>
                <a:latin typeface="Segoe UI"/>
              </a:rPr>
              <a:t>FRONTEND DESIGN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1883664"/>
            <a:ext cx="415411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38BDF8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Five-stage control row — </a:t>
            </a:r>
            <a:r>
              <a:rPr sz="1180">
                <a:solidFill>
                  <a:srgbClr val="CBD5E1"/>
                </a:solidFill>
                <a:latin typeface="Segoe UI"/>
              </a:rPr>
              <a:t>Generate Keys → Encrypt + Sign → Simulate Attack → Verify File → Reset Output, each bound to one fetch() call.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38BDF8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Semantic status colours — </a:t>
            </a:r>
            <a:r>
              <a:rPr sz="1180">
                <a:solidFill>
                  <a:srgbClr val="CBD5E1"/>
                </a:solidFill>
                <a:latin typeface="Segoe UI"/>
              </a:rPr>
              <a:t>success, warning, danger, error and reset each map to a dedicated CSS class and palette.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38BDF8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Structured detail grid — </a:t>
            </a:r>
            <a:r>
              <a:rPr sz="1180">
                <a:solidFill>
                  <a:srgbClr val="CBD5E1"/>
                </a:solidFill>
                <a:latin typeface="Segoe UI"/>
              </a:rPr>
              <a:t>message, hash, signature, received hash and attack byte details render as separate info cards.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38BDF8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XSS-safe rendering — </a:t>
            </a:r>
            <a:r>
              <a:rPr sz="1180">
                <a:solidFill>
                  <a:srgbClr val="CBD5E1"/>
                </a:solidFill>
                <a:latin typeface="Segoe UI"/>
              </a:rPr>
              <a:t>every dynamic value passes through escapeHtml() before being injected into innerHTML.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0648" y="5010912"/>
            <a:ext cx="4154119" cy="1051560"/>
          </a:xfrm>
          <a:prstGeom prst="roundRect">
            <a:avLst>
              <a:gd name="adj" fmla="val 3500"/>
            </a:avLst>
          </a:prstGeom>
          <a:solidFill>
            <a:srgbClr val="161E36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08392" y="5175504"/>
            <a:ext cx="367863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64748B"/>
                </a:solidFill>
                <a:latin typeface="Segoe UI"/>
              </a:rPr>
              <a:t>CLIENT-SIDE FLOW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callAPI(url)  →  fetch(url)  →  response.json()  →  updateStatus(data) + updateDetails(data)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Dashboard walkthrough — every captured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27450" cy="2267712"/>
          </a:xfrm>
          <a:prstGeom prst="roundRect">
            <a:avLst>
              <a:gd name="adj" fmla="val 2000"/>
            </a:avLst>
          </a:prstGeom>
          <a:solidFill>
            <a:srgbClr val="080E1A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1" name="Picture 10" descr="Screenshot 2026-10-22 160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062355"/>
            <a:ext cx="3362858" cy="11788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" y="3182111"/>
            <a:ext cx="323484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2C55E"/>
                </a:solidFill>
                <a:latin typeface="Segoe UI"/>
              </a:rPr>
              <a:t>STAGE 1   </a:t>
            </a:r>
            <a:r>
              <a:rPr sz="1050" b="1">
                <a:solidFill>
                  <a:srgbClr val="F8FAFC"/>
                </a:solidFill>
                <a:latin typeface="Segoe UI"/>
              </a:rPr>
              <a:t>Generate Keys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Key pair written; green success banner.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2122" y="1517904"/>
            <a:ext cx="3527450" cy="2267712"/>
          </a:xfrm>
          <a:prstGeom prst="roundRect">
            <a:avLst>
              <a:gd name="adj" fmla="val 2000"/>
            </a:avLst>
          </a:prstGeom>
          <a:solidFill>
            <a:srgbClr val="080E1A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4" name="Picture 13" descr="Screenshot 2026-10-22 1600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418" y="1740556"/>
            <a:ext cx="3362858" cy="18224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78426" y="3182111"/>
            <a:ext cx="323484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563EB"/>
                </a:solidFill>
                <a:latin typeface="Segoe UI"/>
              </a:rPr>
              <a:t>STAGE 2   </a:t>
            </a:r>
            <a:r>
              <a:rPr sz="1050" b="1">
                <a:solidFill>
                  <a:srgbClr val="F8FAFC"/>
                </a:solidFill>
                <a:latin typeface="Segoe UI"/>
              </a:rPr>
              <a:t>Encrypt + Sign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Message, SHA-256 digest and signature displayed.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1517904"/>
            <a:ext cx="3527450" cy="2267712"/>
          </a:xfrm>
          <a:prstGeom prst="roundRect">
            <a:avLst>
              <a:gd name="adj" fmla="val 2000"/>
            </a:avLst>
          </a:prstGeom>
          <a:solidFill>
            <a:srgbClr val="080E1A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7" name="Picture 16" descr="Screenshot 2026-10-22 1600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9612" y="1817050"/>
            <a:ext cx="3362858" cy="16694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3620" y="3182111"/>
            <a:ext cx="323484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ACC15"/>
                </a:solidFill>
                <a:latin typeface="Segoe UI"/>
              </a:rPr>
              <a:t>STAGE 3   </a:t>
            </a:r>
            <a:r>
              <a:rPr sz="1050" b="1">
                <a:solidFill>
                  <a:srgbClr val="F8FAFC"/>
                </a:solidFill>
                <a:latin typeface="Segoe UI"/>
              </a:rPr>
              <a:t>Simulate Attack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Amber warning; byte 10 changed from 32 to 37.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3360"/>
            <a:ext cx="3527450" cy="2267712"/>
          </a:xfrm>
          <a:prstGeom prst="roundRect">
            <a:avLst>
              <a:gd name="adj" fmla="val 2000"/>
            </a:avLst>
          </a:prstGeom>
          <a:solidFill>
            <a:srgbClr val="080E1A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0" name="Picture 19" descr="Screenshot 2026-10-22 1601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358448"/>
            <a:ext cx="3362858" cy="15975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3232" y="5687568"/>
            <a:ext cx="323484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F4444"/>
                </a:solidFill>
                <a:latin typeface="Segoe UI"/>
              </a:rPr>
              <a:t>STAGE 4   </a:t>
            </a:r>
            <a:r>
              <a:rPr sz="1050" b="1">
                <a:solidFill>
                  <a:srgbClr val="F8FAFC"/>
                </a:solidFill>
                <a:latin typeface="Segoe UI"/>
              </a:rPr>
              <a:t>Verify — Tampered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Red banner: ATTACK DETECTED.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2122" y="4023360"/>
            <a:ext cx="3527450" cy="2267712"/>
          </a:xfrm>
          <a:prstGeom prst="roundRect">
            <a:avLst>
              <a:gd name="adj" fmla="val 2000"/>
            </a:avLst>
          </a:prstGeom>
          <a:solidFill>
            <a:srgbClr val="080E1A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3" name="Picture 22" descr="Screenshot 2026-10-22 1601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4418" y="4405963"/>
            <a:ext cx="3362858" cy="15025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478426" y="5687568"/>
            <a:ext cx="323484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78BFA"/>
                </a:solidFill>
                <a:latin typeface="Segoe UI"/>
              </a:rPr>
              <a:t>STAGE 5   </a:t>
            </a:r>
            <a:r>
              <a:rPr sz="1050" b="1">
                <a:solidFill>
                  <a:srgbClr val="F8FAFC"/>
                </a:solidFill>
                <a:latin typeface="Segoe UI"/>
              </a:rPr>
              <a:t>Reset Output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Purple banner; artefacts cleared for a clean re-run.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4023360"/>
            <a:ext cx="3527450" cy="2267712"/>
          </a:xfrm>
          <a:prstGeom prst="roundRect">
            <a:avLst>
              <a:gd name="adj" fmla="val 2000"/>
            </a:avLst>
          </a:prstGeom>
          <a:solidFill>
            <a:srgbClr val="080E1A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6" name="Picture 25" descr="Screenshot 2026-10-22 1601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9612" y="4341665"/>
            <a:ext cx="3362858" cy="16311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43620" y="5687568"/>
            <a:ext cx="323484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2C55E"/>
                </a:solidFill>
                <a:latin typeface="Segoe UI"/>
              </a:rPr>
              <a:t>STAGE 6   </a:t>
            </a:r>
            <a:r>
              <a:rPr sz="1050" b="1">
                <a:solidFill>
                  <a:srgbClr val="F8FAFC"/>
                </a:solidFill>
                <a:latin typeface="Segoe UI"/>
              </a:rPr>
              <a:t>Verify — Clean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Green banner: Secure File after a fresh encrypt.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Test matrix and observed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19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17904"/>
          <a:ext cx="11057837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14324"/>
                <a:gridCol w="3174009"/>
                <a:gridCol w="6245631"/>
                <a:gridCol w="1023873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Segoe UI"/>
                        </a:rPr>
                        <a:t>Test case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Segoe UI"/>
                        </a:rPr>
                        <a:t>Expected behaviour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Segoe UI"/>
                        </a:rPr>
                        <a:t>Observed</a:t>
                      </a:r>
                    </a:p>
                  </a:txBody>
                  <a:tcPr marL="100584" marR="100584" marT="45720" marB="45720" anchor="ctr">
                    <a:solidFill>
                      <a:srgbClr val="1B283F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T1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Generate keys on a clean tree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Both PEM files created; key sizes 2048-bit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T2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Encrypt before any key exists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Guarded error: "Private key not found"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T3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Hash length after encrypt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SHA-256 digest is exactly 32 bytes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T4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Signature length after encrypt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RSA-2048 signature is exactly 256 bytes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T5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Verify an unmodified payload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"Verification successful" · Secure File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T6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Simulate the MITM tamper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Byte 10 changes 32 → 37; status = warning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T7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Verify the tampered payload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Signature check raises · ATTACK DETECTED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T8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Reset the output directory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Payload and signature artefacts removed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0584" marR="100584" marT="45720" marB="45720" anchor="ctr">
                    <a:solidFill>
                      <a:srgbClr val="17253A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T9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Verify after a reset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Guarded error: "Encrypted file not found"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0584" marR="100584" marT="45720" marB="45720" anchor="ctr">
                    <a:solidFill>
                      <a:srgbClr val="141F31"/>
                    </a:solidFill>
                    <a:lnB w="9525" cap="flat" cmpd="sng" algn="ctr">
                      <a:solidFill>
                        <a:srgbClr val="2A3B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742432"/>
            <a:ext cx="11057839" cy="777240"/>
          </a:xfrm>
          <a:prstGeom prst="roundRect">
            <a:avLst>
              <a:gd name="adj" fmla="val 3500"/>
            </a:avLst>
          </a:prstGeom>
          <a:solidFill>
            <a:srgbClr val="142B22"/>
          </a:solidFill>
          <a:ln w="1143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5925312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C55E"/>
                </a:solidFill>
                <a:latin typeface="Segoe UI"/>
              </a:rPr>
              <a:t>RESULT   </a:t>
            </a:r>
            <a:r>
              <a:rPr sz="1200" b="0" i="0">
                <a:solidFill>
                  <a:srgbClr val="CBD5E1"/>
                </a:solidFill>
                <a:latin typeface="Segoe UI"/>
              </a:rPr>
              <a:t>9 of 9 test cases passed on the live run. The critical property under test is T7 — a single modified byte inside a 34-byte payload is reliably detected.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SECURITY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Strengths, limitations and honest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5373471" cy="4773168"/>
          </a:xfrm>
          <a:prstGeom prst="roundRect">
            <a:avLst>
              <a:gd name="adj" fmla="val 3500"/>
            </a:avLst>
          </a:prstGeom>
          <a:solidFill>
            <a:srgbClr val="142B22"/>
          </a:solidFill>
          <a:ln w="1143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1719072"/>
            <a:ext cx="4824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30">
                <a:solidFill>
                  <a:srgbClr val="22C55E"/>
                </a:solidFill>
                <a:latin typeface="Segoe UI"/>
              </a:rPr>
              <a:t>STRENGTHS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84831"/>
            <a:ext cx="4824831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2C55E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Detached signature — </a:t>
            </a:r>
            <a:r>
              <a:rPr sz="1180">
                <a:solidFill>
                  <a:srgbClr val="CBD5E1"/>
                </a:solidFill>
                <a:latin typeface="Segoe UI"/>
              </a:rPr>
              <a:t>the attacker can rewrite the payload but cannot re-sign it without the private key.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22C55E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Audited primitives — </a:t>
            </a:r>
            <a:r>
              <a:rPr sz="1180">
                <a:solidFill>
                  <a:srgbClr val="CBD5E1"/>
                </a:solidFill>
                <a:latin typeface="Segoe UI"/>
              </a:rPr>
              <a:t>RSA, PSS and SHA-256 come from the OpenSSL-backed cryptography package.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22C55E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Deterministic detection — </a:t>
            </a:r>
            <a:r>
              <a:rPr sz="1180">
                <a:solidFill>
                  <a:srgbClr val="CBD5E1"/>
                </a:solidFill>
                <a:latin typeface="Segoe UI"/>
              </a:rPr>
              <a:t>a 1-byte change alters the digest, so detection is reliable, not probabilistic.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22C55E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Key rotation on demand — </a:t>
            </a:r>
            <a:r>
              <a:rPr sz="1180">
                <a:solidFill>
                  <a:srgbClr val="CBD5E1"/>
                </a:solidFill>
                <a:latin typeface="Segoe UI"/>
              </a:rPr>
              <a:t>a fresh key pair can be generated for every demonstration run.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22C55E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Defensive coding — </a:t>
            </a:r>
            <a:r>
              <a:rPr sz="1180">
                <a:solidFill>
                  <a:srgbClr val="CBD5E1"/>
                </a:solidFill>
                <a:latin typeface="Segoe UI"/>
              </a:rPr>
              <a:t>every crypto routine guards against missing files and empty inputs before acting.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22C55E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Clean separation — </a:t>
            </a:r>
            <a:r>
              <a:rPr sz="1180">
                <a:solidFill>
                  <a:srgbClr val="CBD5E1"/>
                </a:solidFill>
                <a:latin typeface="Segoe UI"/>
              </a:rPr>
              <a:t>routing, cryptography, storage and presentation each live in their own module.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1295" y="1517904"/>
            <a:ext cx="5373471" cy="4773168"/>
          </a:xfrm>
          <a:prstGeom prst="roundRect">
            <a:avLst>
              <a:gd name="adj" fmla="val 3500"/>
            </a:avLst>
          </a:prstGeom>
          <a:solidFill>
            <a:srgbClr val="2A1418"/>
          </a:solidFill>
          <a:ln w="1143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25615" y="1719072"/>
            <a:ext cx="4824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30">
                <a:solidFill>
                  <a:srgbClr val="EF4444"/>
                </a:solidFill>
                <a:latin typeface="Segoe UI"/>
              </a:rPr>
              <a:t>LIMITATIONS · FUTURE HARDENING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615" y="2084831"/>
            <a:ext cx="4824831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EF4444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Payload is signed, not encrypted — </a:t>
            </a:r>
            <a:r>
              <a:rPr sz="1180">
                <a:solidFill>
                  <a:srgbClr val="CBD5E1"/>
                </a:solidFill>
                <a:latin typeface="Segoe UI"/>
              </a:rPr>
              <a:t>the file is stored in the clear; confidentiality would require an AEAD cipher such as AES-GCM.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EF4444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Private key is stored unencrypted — </a:t>
            </a:r>
            <a:r>
              <a:rPr sz="1180">
                <a:solidFill>
                  <a:srgbClr val="CBD5E1"/>
                </a:solidFill>
                <a:latin typeface="Segoe UI"/>
              </a:rPr>
              <a:t>it should be protected with a passphrase, an HSM or a KMS-held key.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EF4444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Offline simulation only — </a:t>
            </a:r>
            <a:r>
              <a:rPr sz="1180">
                <a:solidFill>
                  <a:srgbClr val="CBD5E1"/>
                </a:solidFill>
                <a:latin typeface="Segoe UI"/>
              </a:rPr>
              <a:t>the tamper runs locally instead of on a real proxied network path.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EF4444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Fixed tamper offset — </a:t>
            </a:r>
            <a:r>
              <a:rPr sz="1180">
                <a:solidFill>
                  <a:srgbClr val="CBD5E1"/>
                </a:solidFill>
                <a:latin typeface="Segoe UI"/>
              </a:rPr>
              <a:t>offset 10 is targeted; a real adversary would randomise the mutation.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EF4444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No transport security — </a:t>
            </a:r>
            <a:r>
              <a:rPr sz="1180">
                <a:solidFill>
                  <a:srgbClr val="CBD5E1"/>
                </a:solidFill>
                <a:latin typeface="Segoe UI"/>
              </a:rPr>
              <a:t>the Flask dev server runs in debug mode over plain HTTP on localhost.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180" b="1">
                <a:solidFill>
                  <a:srgbClr val="EF4444"/>
                </a:solidFill>
                <a:latin typeface="Segoe UI"/>
              </a:rPr>
              <a:t>▸  </a:t>
            </a:r>
            <a:r>
              <a:rPr sz="1180" b="1">
                <a:solidFill>
                  <a:srgbClr val="F8FAFC"/>
                </a:solidFill>
                <a:latin typeface="Segoe UI"/>
              </a:rPr>
              <a:t>No access control — </a:t>
            </a:r>
            <a:r>
              <a:rPr sz="1180">
                <a:solidFill>
                  <a:srgbClr val="CBD5E1"/>
                </a:solidFill>
                <a:latin typeface="Segoe UI"/>
              </a:rPr>
              <a:t>the endpoints are unauthenticated; a production build needs TLS, sessions and authorisation.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490874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1773936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297881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Add real confidentiality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15184"/>
            <a:ext cx="297881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egoe UI"/>
              </a:rPr>
              <a:t>Encrypt the payload with AES-256-GCM and derive the key via RSA-OAEP, so the file is both secret and authentic.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0410" y="1517904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50410" y="1517904"/>
            <a:ext cx="3490874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06442" y="1773936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6442" y="2176272"/>
            <a:ext cx="297881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Realistic network adversary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6442" y="2615184"/>
            <a:ext cx="297881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egoe UI"/>
              </a:rPr>
              <a:t>Move the attack into a live TCP proxy between two hosts so the interception happens on the wire, not in-process.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3892" y="1517904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33892" y="1517904"/>
            <a:ext cx="3490874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89924" y="1773936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9924" y="2176272"/>
            <a:ext cx="297881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Randomised tamper injection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9924" y="2615184"/>
            <a:ext cx="297881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egoe UI"/>
              </a:rPr>
              <a:t>Mutate a random offset and a random subset of bytes so no offset can be relied upon for bypass.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41648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4041648"/>
            <a:ext cx="3490874" cy="457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297680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ACC15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00016"/>
            <a:ext cx="297881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Key management &amp; rotation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38928"/>
            <a:ext cx="297881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egoe UI"/>
              </a:rPr>
              <a:t>Encrypt the private key with a passphrase, add expiry metadata and support signed key revocation.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0410" y="4041648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350410" y="4041648"/>
            <a:ext cx="3490874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06442" y="4297680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D4BF"/>
                </a:solidFill>
                <a:latin typeface="Consola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6442" y="4700016"/>
            <a:ext cx="297881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Certificates &amp; 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6442" y="5138928"/>
            <a:ext cx="297881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egoe UI"/>
              </a:rPr>
              <a:t>Issue self-signed X.509 certificates and validate them against a trust store to bind signatures to identities.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3892" y="4041648"/>
            <a:ext cx="3490874" cy="2249424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133892" y="4041648"/>
            <a:ext cx="3490874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89924" y="4297680"/>
            <a:ext cx="29788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Consola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9924" y="4700016"/>
            <a:ext cx="297881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Harden the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9924" y="5138928"/>
            <a:ext cx="297881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egoe UI"/>
              </a:rPr>
              <a:t>Serve over TLS with Gunicorn, disable debug mode, add authentication, rate limiting and structured audit logs.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38BDF8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What the project proves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960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91056" y="1275588"/>
            <a:ext cx="10033711" cy="10972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10972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MITM Detection  ·  Secure File Sharing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BDF8"/>
                </a:solidFill>
                <a:latin typeface="Segoe U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11057839" cy="1207008"/>
          </a:xfrm>
          <a:prstGeom prst="roundRect">
            <a:avLst>
              <a:gd name="adj" fmla="val 3500"/>
            </a:avLst>
          </a:prstGeom>
          <a:solidFill>
            <a:srgbClr val="142B22"/>
          </a:solidFill>
          <a:ln w="1143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1737360"/>
            <a:ext cx="1028974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“If the payload changes in any way, the digest changes, and without the private key the signature can never be made to match again.”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44368"/>
            <a:ext cx="5400903" cy="1591056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944368"/>
            <a:ext cx="50292" cy="159105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77824" y="3145536"/>
            <a:ext cx="49619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A working detection 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11296"/>
            <a:ext cx="4961991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A complete, runnable pipeline that signs a file, allows it to be tampered with, and then proves the tampering is detected — not in theory, but through a live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4135" y="2944368"/>
            <a:ext cx="5400903" cy="1591056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14135" y="2944368"/>
            <a:ext cx="50292" cy="15910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5031" y="3145536"/>
            <a:ext cx="49619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Primitives chosen deliberately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3511296"/>
            <a:ext cx="4961991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RSA-2048 for identity, SHA-256 for integrity, and RSA-PSS rather than PKCS#1 v1.5 for a provably unforgeable signature scheme.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0016"/>
            <a:ext cx="5400903" cy="1591056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4700016"/>
            <a:ext cx="50292" cy="159105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7824" y="4901183"/>
            <a:ext cx="49619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Clear separation of concerns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266944"/>
            <a:ext cx="4961991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Flask routing, cryptographic services, storage and presentation are isolated in four modules, so the project can be extended or reused piece by piece.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4135" y="4700016"/>
            <a:ext cx="5400903" cy="1591056"/>
          </a:xfrm>
          <a:prstGeom prst="roundRect">
            <a:avLst>
              <a:gd name="adj" fmla="val 3500"/>
            </a:avLst>
          </a:prstGeom>
          <a:solidFill>
            <a:srgbClr val="152033"/>
          </a:solidFill>
          <a:ln w="1143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114135" y="4700016"/>
            <a:ext cx="50292" cy="159105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031" y="4901183"/>
            <a:ext cx="49619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Honest, measurable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5031" y="5266944"/>
            <a:ext cx="4961991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Nine test cases pass on a live run, including the critical case where a single byte change inside a 34-byte file is reliably detected.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32588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214884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97180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79476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61772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4068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6364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08660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90956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73252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55548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37844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201400" y="86868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0292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32588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14884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97180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79476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61772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4068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6364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08660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90956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73252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55548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037844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1201400" y="1435607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0292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32588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14884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97180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79476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61772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44068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26364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08660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90956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73252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955548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037844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1201400" y="200253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0292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32588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214884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297180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379476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61772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44068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626364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08660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790956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873252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955548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1037844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1201400" y="2569463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0292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32588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214884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297180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379476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461772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44068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626364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08660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790956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73252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955548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1037844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11201400" y="3136391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50292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132588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214884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297180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379476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461772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544068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626364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08660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790956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873252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955548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037844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1201400" y="3703320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50292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32588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214884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297180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379476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461772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544068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626364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08660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790956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873252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55548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1037844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11201400" y="4270248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50292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132588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214884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297180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379476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461772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544068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626364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708660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790956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873252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955548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1037844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1201400" y="4837176"/>
            <a:ext cx="45720" cy="45720"/>
          </a:xfrm>
          <a:prstGeom prst="rect">
            <a:avLst/>
          </a:prstGeom>
          <a:solidFill>
            <a:srgbClr val="1B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463040" y="2084831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38BDF8"/>
                </a:solidFill>
                <a:latin typeface="Segoe UI"/>
              </a:rPr>
              <a:t>THANK YOU FOR YOUR ATTENTION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63040" y="2615184"/>
            <a:ext cx="9235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8FAFC"/>
                </a:solidFill>
                <a:latin typeface="Segoe UI"/>
              </a:rPr>
              <a:t>Questions?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58968" y="3712463"/>
            <a:ext cx="1280160" cy="411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463040" y="4005072"/>
            <a:ext cx="9235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Man-in-the-Middle Detection · RSA-2048 · SHA-256 · RSA-PSS · Flask</a:t>
            </a:r>
          </a:p>
          <a:p>
            <a:pPr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Segoe UI"/>
              </a:rPr>
              <a:t>Vanshika  ·  Madhav  ·  Vedant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63040" y="5413248"/>
            <a:ext cx="9235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4748B"/>
                </a:solidFill>
                <a:latin typeface="Segoe UI"/>
              </a:rPr>
              <a:t>Project source, keys, output artefacts and full screenshot set are included in the submitted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Man-in-the-Middle Attack Detection Using Digital Signatures</dc:title>
  <dc:subject>RSA-2048, SHA-256 and RSA-PSS digital signature verification for tamper detection — Flask project presentation</dc:subject>
  <dc:creator>Vanshika, Madhav, Vedant</dc:creator>
  <cp:keywords>MITM, RSA-2048, SHA-256, RSA-PSS, digital signature, Flask, cryptography, tamper detection</cp:keywords>
  <dc:description>23-slide project presentation covering the problem statement, architecture, all four cryptographic modules, API design, dashboard UI, testing results and security analysis.</dc:description>
  <cp:lastModifiedBy>Vanshika, Madhav, Vedant</cp:lastModifiedBy>
  <cp:revision>1</cp:revision>
  <dcterms:created xsi:type="dcterms:W3CDTF">2013-01-27T09:14:16Z</dcterms:created>
  <dcterms:modified xsi:type="dcterms:W3CDTF">2013-01-27T09:15:58Z</dcterms:modified>
  <cp:category>Cybersecurity Project Presentation</cp:category>
</cp:coreProperties>
</file>